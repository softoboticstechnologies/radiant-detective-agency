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6" r:id="rId2"/>
    <p:sldId id="274" r:id="rId3"/>
    <p:sldId id="257" r:id="rId4"/>
    <p:sldId id="258" r:id="rId5"/>
    <p:sldId id="268" r:id="rId6"/>
    <p:sldId id="261" r:id="rId7"/>
    <p:sldId id="270" r:id="rId8"/>
    <p:sldId id="267" r:id="rId9"/>
    <p:sldId id="269" r:id="rId10"/>
    <p:sldId id="266" r:id="rId11"/>
    <p:sldId id="271" r:id="rId12"/>
    <p:sldId id="265" r:id="rId13"/>
    <p:sldId id="272" r:id="rId14"/>
    <p:sldId id="259" r:id="rId15"/>
    <p:sldId id="260" r:id="rId16"/>
    <p:sldId id="27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loop="1" showNarration="1">
    <p:kiosk/>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416903-7C84-23B6-9906-B73179DD8DDF}" v="7" dt="2026-08-11T09:35:58.50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3" autoAdjust="0"/>
    <p:restoredTop sz="94660"/>
  </p:normalViewPr>
  <p:slideViewPr>
    <p:cSldViewPr snapToGrid="0">
      <p:cViewPr varScale="1">
        <p:scale>
          <a:sx n="78" d="100"/>
          <a:sy n="78" d="100"/>
        </p:scale>
        <p:origin x="216"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uest User" userId="S::urn:spo:tenantanon#1b7d92c7-b009-4f90-bf43-9f68ddc2df6b::" providerId="AD" clId="Web-{A3416903-7C84-23B6-9906-B73179DD8DDF}"/>
    <pc:docChg chg="addSld modSld">
      <pc:chgData name="Guest User" userId="S::urn:spo:tenantanon#1b7d92c7-b009-4f90-bf43-9f68ddc2df6b::" providerId="AD" clId="Web-{A3416903-7C84-23B6-9906-B73179DD8DDF}" dt="2026-08-11T09:35:58.504" v="5" actId="14100"/>
      <pc:docMkLst>
        <pc:docMk/>
      </pc:docMkLst>
      <pc:sldChg chg="addSp modSp new">
        <pc:chgData name="Guest User" userId="S::urn:spo:tenantanon#1b7d92c7-b009-4f90-bf43-9f68ddc2df6b::" providerId="AD" clId="Web-{A3416903-7C84-23B6-9906-B73179DD8DDF}" dt="2026-08-11T09:35:58.504" v="5" actId="14100"/>
        <pc:sldMkLst>
          <pc:docMk/>
          <pc:sldMk cId="2114505063" sldId="274"/>
        </pc:sldMkLst>
        <pc:picChg chg="add mod">
          <ac:chgData name="Guest User" userId="S::urn:spo:tenantanon#1b7d92c7-b009-4f90-bf43-9f68ddc2df6b::" providerId="AD" clId="Web-{A3416903-7C84-23B6-9906-B73179DD8DDF}" dt="2026-08-11T09:35:58.504" v="5" actId="14100"/>
          <ac:picMkLst>
            <pc:docMk/>
            <pc:sldMk cId="2114505063" sldId="274"/>
            <ac:picMk id="5" creationId="{D33CEB78-768E-9ADC-4172-566806CF10EC}"/>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85DBA48-3FBF-4B67-97EC-5DBFA1792AA4}" type="datetimeFigureOut">
              <a:rPr lang="en-US" smtClean="0"/>
              <a:t>8/11/2026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B8F312B-59C6-4EB6-BF13-7F97BEA89029}" type="slidenum">
              <a:rPr lang="en-US" smtClean="0"/>
              <a:t>‹#›</a:t>
            </a:fld>
            <a:endParaRPr lang="en-US"/>
          </a:p>
        </p:txBody>
      </p:sp>
    </p:spTree>
    <p:extLst>
      <p:ext uri="{BB962C8B-B14F-4D97-AF65-F5344CB8AC3E}">
        <p14:creationId xmlns:p14="http://schemas.microsoft.com/office/powerpoint/2010/main" val="29670085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8F312B-59C6-4EB6-BF13-7F97BEA89029}" type="slidenum">
              <a:rPr lang="en-US" smtClean="0"/>
              <a:t>5</a:t>
            </a:fld>
            <a:endParaRPr lang="en-US"/>
          </a:p>
        </p:txBody>
      </p:sp>
    </p:spTree>
    <p:extLst>
      <p:ext uri="{BB962C8B-B14F-4D97-AF65-F5344CB8AC3E}">
        <p14:creationId xmlns:p14="http://schemas.microsoft.com/office/powerpoint/2010/main" val="3080320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8F312B-59C6-4EB6-BF13-7F97BEA89029}" type="slidenum">
              <a:rPr lang="en-US" smtClean="0"/>
              <a:t>6</a:t>
            </a:fld>
            <a:endParaRPr lang="en-US"/>
          </a:p>
        </p:txBody>
      </p:sp>
    </p:spTree>
    <p:extLst>
      <p:ext uri="{BB962C8B-B14F-4D97-AF65-F5344CB8AC3E}">
        <p14:creationId xmlns:p14="http://schemas.microsoft.com/office/powerpoint/2010/main" val="15485347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B8F312B-59C6-4EB6-BF13-7F97BEA89029}" type="slidenum">
              <a:rPr lang="en-US" smtClean="0"/>
              <a:t>15</a:t>
            </a:fld>
            <a:endParaRPr lang="en-US"/>
          </a:p>
        </p:txBody>
      </p:sp>
    </p:spTree>
    <p:extLst>
      <p:ext uri="{BB962C8B-B14F-4D97-AF65-F5344CB8AC3E}">
        <p14:creationId xmlns:p14="http://schemas.microsoft.com/office/powerpoint/2010/main" val="28380029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7AE24-331D-EEB5-21EC-3F4F510E423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1E75500-91FA-53F9-752F-FB1E4D41E3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56F1B9F-407F-0209-18BA-0819617EE220}"/>
              </a:ext>
            </a:extLst>
          </p:cNvPr>
          <p:cNvSpPr>
            <a:spLocks noGrp="1"/>
          </p:cNvSpPr>
          <p:nvPr>
            <p:ph type="dt" sz="half" idx="10"/>
          </p:nvPr>
        </p:nvSpPr>
        <p:spPr/>
        <p:txBody>
          <a:bodyPr/>
          <a:lstStyle/>
          <a:p>
            <a:fld id="{C2A5F4F2-5659-43BC-9605-E7F2FF8DA50C}" type="datetimeFigureOut">
              <a:rPr lang="en-US" smtClean="0"/>
              <a:t>8/11/2026</a:t>
            </a:fld>
            <a:endParaRPr lang="en-US"/>
          </a:p>
        </p:txBody>
      </p:sp>
      <p:sp>
        <p:nvSpPr>
          <p:cNvPr id="5" name="Footer Placeholder 4">
            <a:extLst>
              <a:ext uri="{FF2B5EF4-FFF2-40B4-BE49-F238E27FC236}">
                <a16:creationId xmlns:a16="http://schemas.microsoft.com/office/drawing/2014/main" id="{47FEE66F-312C-74DC-9C24-9921F24B59D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0D26E6-D936-2E53-0E4E-F0E074580AFC}"/>
              </a:ext>
            </a:extLst>
          </p:cNvPr>
          <p:cNvSpPr>
            <a:spLocks noGrp="1"/>
          </p:cNvSpPr>
          <p:nvPr>
            <p:ph type="sldNum" sz="quarter" idx="12"/>
          </p:nvPr>
        </p:nvSpPr>
        <p:spPr/>
        <p:txBody>
          <a:bodyPr/>
          <a:lstStyle/>
          <a:p>
            <a:fld id="{B53DEDA6-22E3-48D9-A301-0E964143E9BF}" type="slidenum">
              <a:rPr lang="en-US" smtClean="0"/>
              <a:t>‹#›</a:t>
            </a:fld>
            <a:endParaRPr lang="en-US"/>
          </a:p>
        </p:txBody>
      </p:sp>
    </p:spTree>
    <p:extLst>
      <p:ext uri="{BB962C8B-B14F-4D97-AF65-F5344CB8AC3E}">
        <p14:creationId xmlns:p14="http://schemas.microsoft.com/office/powerpoint/2010/main" val="215781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46F77-8427-F6AD-8444-2BABCCB1625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0E07949-EE10-3008-6259-BD0054EDE91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9473DED-CBDE-737F-1A0A-A2941188C109}"/>
              </a:ext>
            </a:extLst>
          </p:cNvPr>
          <p:cNvSpPr>
            <a:spLocks noGrp="1"/>
          </p:cNvSpPr>
          <p:nvPr>
            <p:ph type="dt" sz="half" idx="10"/>
          </p:nvPr>
        </p:nvSpPr>
        <p:spPr/>
        <p:txBody>
          <a:bodyPr/>
          <a:lstStyle/>
          <a:p>
            <a:fld id="{C2A5F4F2-5659-43BC-9605-E7F2FF8DA50C}" type="datetimeFigureOut">
              <a:rPr lang="en-US" smtClean="0"/>
              <a:t>8/11/2026</a:t>
            </a:fld>
            <a:endParaRPr lang="en-US"/>
          </a:p>
        </p:txBody>
      </p:sp>
      <p:sp>
        <p:nvSpPr>
          <p:cNvPr id="5" name="Footer Placeholder 4">
            <a:extLst>
              <a:ext uri="{FF2B5EF4-FFF2-40B4-BE49-F238E27FC236}">
                <a16:creationId xmlns:a16="http://schemas.microsoft.com/office/drawing/2014/main" id="{77B9E600-C5EA-C1A4-003E-F1464ED509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FD55B0-3AB8-9C80-9B66-1B99ABAD593F}"/>
              </a:ext>
            </a:extLst>
          </p:cNvPr>
          <p:cNvSpPr>
            <a:spLocks noGrp="1"/>
          </p:cNvSpPr>
          <p:nvPr>
            <p:ph type="sldNum" sz="quarter" idx="12"/>
          </p:nvPr>
        </p:nvSpPr>
        <p:spPr/>
        <p:txBody>
          <a:bodyPr/>
          <a:lstStyle/>
          <a:p>
            <a:fld id="{B53DEDA6-22E3-48D9-A301-0E964143E9BF}" type="slidenum">
              <a:rPr lang="en-US" smtClean="0"/>
              <a:t>‹#›</a:t>
            </a:fld>
            <a:endParaRPr lang="en-US"/>
          </a:p>
        </p:txBody>
      </p:sp>
    </p:spTree>
    <p:extLst>
      <p:ext uri="{BB962C8B-B14F-4D97-AF65-F5344CB8AC3E}">
        <p14:creationId xmlns:p14="http://schemas.microsoft.com/office/powerpoint/2010/main" val="5118777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C9759-5B4C-DEEE-F57B-6EA5C9DD20B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C497CA6-34C4-D819-6718-2442D033DDF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4BDE547-42DB-F1AB-5D05-4AE87B532DBA}"/>
              </a:ext>
            </a:extLst>
          </p:cNvPr>
          <p:cNvSpPr>
            <a:spLocks noGrp="1"/>
          </p:cNvSpPr>
          <p:nvPr>
            <p:ph type="dt" sz="half" idx="10"/>
          </p:nvPr>
        </p:nvSpPr>
        <p:spPr/>
        <p:txBody>
          <a:bodyPr/>
          <a:lstStyle/>
          <a:p>
            <a:fld id="{C2A5F4F2-5659-43BC-9605-E7F2FF8DA50C}" type="datetimeFigureOut">
              <a:rPr lang="en-US" smtClean="0"/>
              <a:t>8/11/2026</a:t>
            </a:fld>
            <a:endParaRPr lang="en-US"/>
          </a:p>
        </p:txBody>
      </p:sp>
      <p:sp>
        <p:nvSpPr>
          <p:cNvPr id="5" name="Footer Placeholder 4">
            <a:extLst>
              <a:ext uri="{FF2B5EF4-FFF2-40B4-BE49-F238E27FC236}">
                <a16:creationId xmlns:a16="http://schemas.microsoft.com/office/drawing/2014/main" id="{3DBB7A53-EBB6-6E4A-486B-E4D152EF64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E76CF3-9FDC-19EE-4C32-CF6FE7E77509}"/>
              </a:ext>
            </a:extLst>
          </p:cNvPr>
          <p:cNvSpPr>
            <a:spLocks noGrp="1"/>
          </p:cNvSpPr>
          <p:nvPr>
            <p:ph type="sldNum" sz="quarter" idx="12"/>
          </p:nvPr>
        </p:nvSpPr>
        <p:spPr/>
        <p:txBody>
          <a:bodyPr/>
          <a:lstStyle/>
          <a:p>
            <a:fld id="{B53DEDA6-22E3-48D9-A301-0E964143E9BF}" type="slidenum">
              <a:rPr lang="en-US" smtClean="0"/>
              <a:t>‹#›</a:t>
            </a:fld>
            <a:endParaRPr lang="en-US"/>
          </a:p>
        </p:txBody>
      </p:sp>
    </p:spTree>
    <p:extLst>
      <p:ext uri="{BB962C8B-B14F-4D97-AF65-F5344CB8AC3E}">
        <p14:creationId xmlns:p14="http://schemas.microsoft.com/office/powerpoint/2010/main" val="20376945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8DD38-381F-0745-B8BB-42C4F94F278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5A1914D-1925-2E18-2EA1-274D4D63562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920BEC3-82C4-21C9-4900-22C3417F5E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D7886BD-881C-CFC7-8008-285299C02D6C}"/>
              </a:ext>
            </a:extLst>
          </p:cNvPr>
          <p:cNvSpPr>
            <a:spLocks noGrp="1"/>
          </p:cNvSpPr>
          <p:nvPr>
            <p:ph type="dt" sz="half" idx="10"/>
          </p:nvPr>
        </p:nvSpPr>
        <p:spPr/>
        <p:txBody>
          <a:bodyPr/>
          <a:lstStyle/>
          <a:p>
            <a:fld id="{C2A5F4F2-5659-43BC-9605-E7F2FF8DA50C}" type="datetimeFigureOut">
              <a:rPr lang="en-US" smtClean="0"/>
              <a:t>8/11/2026</a:t>
            </a:fld>
            <a:endParaRPr lang="en-US"/>
          </a:p>
        </p:txBody>
      </p:sp>
      <p:sp>
        <p:nvSpPr>
          <p:cNvPr id="6" name="Footer Placeholder 5">
            <a:extLst>
              <a:ext uri="{FF2B5EF4-FFF2-40B4-BE49-F238E27FC236}">
                <a16:creationId xmlns:a16="http://schemas.microsoft.com/office/drawing/2014/main" id="{48F9FA46-B2E2-F8A8-E31B-D4537DB9620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EB70D3-696A-210B-38E4-6ADF562D1B4F}"/>
              </a:ext>
            </a:extLst>
          </p:cNvPr>
          <p:cNvSpPr>
            <a:spLocks noGrp="1"/>
          </p:cNvSpPr>
          <p:nvPr>
            <p:ph type="sldNum" sz="quarter" idx="12"/>
          </p:nvPr>
        </p:nvSpPr>
        <p:spPr/>
        <p:txBody>
          <a:bodyPr/>
          <a:lstStyle/>
          <a:p>
            <a:fld id="{B53DEDA6-22E3-48D9-A301-0E964143E9BF}" type="slidenum">
              <a:rPr lang="en-US" smtClean="0"/>
              <a:t>‹#›</a:t>
            </a:fld>
            <a:endParaRPr lang="en-US"/>
          </a:p>
        </p:txBody>
      </p:sp>
    </p:spTree>
    <p:extLst>
      <p:ext uri="{BB962C8B-B14F-4D97-AF65-F5344CB8AC3E}">
        <p14:creationId xmlns:p14="http://schemas.microsoft.com/office/powerpoint/2010/main" val="28670362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D4D1F-602A-D705-44D5-31C67CEE8EB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4BCF08C-0E57-7897-02AC-53591C0CEA4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6937CAD-ECC2-272E-64E4-899C6E75136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F9BDD0F-9817-835F-83B7-C34471616E4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0CCAA13-49CF-8555-3EC3-D76408C3D93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F510734-A5C6-7880-EAE5-6F2DC43F0540}"/>
              </a:ext>
            </a:extLst>
          </p:cNvPr>
          <p:cNvSpPr>
            <a:spLocks noGrp="1"/>
          </p:cNvSpPr>
          <p:nvPr>
            <p:ph type="dt" sz="half" idx="10"/>
          </p:nvPr>
        </p:nvSpPr>
        <p:spPr/>
        <p:txBody>
          <a:bodyPr/>
          <a:lstStyle/>
          <a:p>
            <a:fld id="{C2A5F4F2-5659-43BC-9605-E7F2FF8DA50C}" type="datetimeFigureOut">
              <a:rPr lang="en-US" smtClean="0"/>
              <a:t>8/11/2026</a:t>
            </a:fld>
            <a:endParaRPr lang="en-US"/>
          </a:p>
        </p:txBody>
      </p:sp>
      <p:sp>
        <p:nvSpPr>
          <p:cNvPr id="8" name="Footer Placeholder 7">
            <a:extLst>
              <a:ext uri="{FF2B5EF4-FFF2-40B4-BE49-F238E27FC236}">
                <a16:creationId xmlns:a16="http://schemas.microsoft.com/office/drawing/2014/main" id="{ABBAD20F-4957-A23E-1A3C-626D2F0D6A2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D50F375-701D-AF7C-5485-DD619D26C9DD}"/>
              </a:ext>
            </a:extLst>
          </p:cNvPr>
          <p:cNvSpPr>
            <a:spLocks noGrp="1"/>
          </p:cNvSpPr>
          <p:nvPr>
            <p:ph type="sldNum" sz="quarter" idx="12"/>
          </p:nvPr>
        </p:nvSpPr>
        <p:spPr/>
        <p:txBody>
          <a:bodyPr/>
          <a:lstStyle/>
          <a:p>
            <a:fld id="{B53DEDA6-22E3-48D9-A301-0E964143E9BF}" type="slidenum">
              <a:rPr lang="en-US" smtClean="0"/>
              <a:t>‹#›</a:t>
            </a:fld>
            <a:endParaRPr lang="en-US"/>
          </a:p>
        </p:txBody>
      </p:sp>
    </p:spTree>
    <p:extLst>
      <p:ext uri="{BB962C8B-B14F-4D97-AF65-F5344CB8AC3E}">
        <p14:creationId xmlns:p14="http://schemas.microsoft.com/office/powerpoint/2010/main" val="10958621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2280B-CA7F-5EF0-C8C9-045C9A76C76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AD341BB-7358-F629-C6E9-D8B3B8BF1110}"/>
              </a:ext>
            </a:extLst>
          </p:cNvPr>
          <p:cNvSpPr>
            <a:spLocks noGrp="1"/>
          </p:cNvSpPr>
          <p:nvPr>
            <p:ph type="dt" sz="half" idx="10"/>
          </p:nvPr>
        </p:nvSpPr>
        <p:spPr/>
        <p:txBody>
          <a:bodyPr/>
          <a:lstStyle/>
          <a:p>
            <a:fld id="{C2A5F4F2-5659-43BC-9605-E7F2FF8DA50C}" type="datetimeFigureOut">
              <a:rPr lang="en-US" smtClean="0"/>
              <a:t>8/11/2026</a:t>
            </a:fld>
            <a:endParaRPr lang="en-US"/>
          </a:p>
        </p:txBody>
      </p:sp>
      <p:sp>
        <p:nvSpPr>
          <p:cNvPr id="4" name="Footer Placeholder 3">
            <a:extLst>
              <a:ext uri="{FF2B5EF4-FFF2-40B4-BE49-F238E27FC236}">
                <a16:creationId xmlns:a16="http://schemas.microsoft.com/office/drawing/2014/main" id="{9E4102BF-B91F-5B9E-5BF3-79783A242C0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644D1F0-EF9D-7DDF-79BC-E831DF740088}"/>
              </a:ext>
            </a:extLst>
          </p:cNvPr>
          <p:cNvSpPr>
            <a:spLocks noGrp="1"/>
          </p:cNvSpPr>
          <p:nvPr>
            <p:ph type="sldNum" sz="quarter" idx="12"/>
          </p:nvPr>
        </p:nvSpPr>
        <p:spPr/>
        <p:txBody>
          <a:bodyPr/>
          <a:lstStyle/>
          <a:p>
            <a:fld id="{B53DEDA6-22E3-48D9-A301-0E964143E9BF}" type="slidenum">
              <a:rPr lang="en-US" smtClean="0"/>
              <a:t>‹#›</a:t>
            </a:fld>
            <a:endParaRPr lang="en-US"/>
          </a:p>
        </p:txBody>
      </p:sp>
    </p:spTree>
    <p:extLst>
      <p:ext uri="{BB962C8B-B14F-4D97-AF65-F5344CB8AC3E}">
        <p14:creationId xmlns:p14="http://schemas.microsoft.com/office/powerpoint/2010/main" val="29788298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DB17DE5-5E17-ED2C-1D1C-BEF75F53153D}"/>
              </a:ext>
            </a:extLst>
          </p:cNvPr>
          <p:cNvSpPr>
            <a:spLocks noGrp="1"/>
          </p:cNvSpPr>
          <p:nvPr>
            <p:ph type="dt" sz="half" idx="10"/>
          </p:nvPr>
        </p:nvSpPr>
        <p:spPr/>
        <p:txBody>
          <a:bodyPr/>
          <a:lstStyle/>
          <a:p>
            <a:fld id="{C2A5F4F2-5659-43BC-9605-E7F2FF8DA50C}" type="datetimeFigureOut">
              <a:rPr lang="en-US" smtClean="0"/>
              <a:t>8/11/2026</a:t>
            </a:fld>
            <a:endParaRPr lang="en-US"/>
          </a:p>
        </p:txBody>
      </p:sp>
      <p:sp>
        <p:nvSpPr>
          <p:cNvPr id="3" name="Footer Placeholder 2">
            <a:extLst>
              <a:ext uri="{FF2B5EF4-FFF2-40B4-BE49-F238E27FC236}">
                <a16:creationId xmlns:a16="http://schemas.microsoft.com/office/drawing/2014/main" id="{892A030D-EDB9-F648-696F-CA47B8533F9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88432EB-2F41-B200-D9E9-1F78B5F89135}"/>
              </a:ext>
            </a:extLst>
          </p:cNvPr>
          <p:cNvSpPr>
            <a:spLocks noGrp="1"/>
          </p:cNvSpPr>
          <p:nvPr>
            <p:ph type="sldNum" sz="quarter" idx="12"/>
          </p:nvPr>
        </p:nvSpPr>
        <p:spPr/>
        <p:txBody>
          <a:bodyPr/>
          <a:lstStyle/>
          <a:p>
            <a:fld id="{B53DEDA6-22E3-48D9-A301-0E964143E9BF}" type="slidenum">
              <a:rPr lang="en-US" smtClean="0"/>
              <a:t>‹#›</a:t>
            </a:fld>
            <a:endParaRPr lang="en-US"/>
          </a:p>
        </p:txBody>
      </p:sp>
    </p:spTree>
    <p:extLst>
      <p:ext uri="{BB962C8B-B14F-4D97-AF65-F5344CB8AC3E}">
        <p14:creationId xmlns:p14="http://schemas.microsoft.com/office/powerpoint/2010/main" val="579032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FAD35C-0176-DAC7-8CCA-0542B0A0B0D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844B509-2834-BF75-BFE1-3CC01D4B2B8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B6D886C-34A3-D544-31CA-2935D1793FE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5DD2C5-3042-754E-41EC-FE33FB1815E7}"/>
              </a:ext>
            </a:extLst>
          </p:cNvPr>
          <p:cNvSpPr>
            <a:spLocks noGrp="1"/>
          </p:cNvSpPr>
          <p:nvPr>
            <p:ph type="dt" sz="half" idx="10"/>
          </p:nvPr>
        </p:nvSpPr>
        <p:spPr/>
        <p:txBody>
          <a:bodyPr/>
          <a:lstStyle/>
          <a:p>
            <a:fld id="{C2A5F4F2-5659-43BC-9605-E7F2FF8DA50C}" type="datetimeFigureOut">
              <a:rPr lang="en-US" smtClean="0"/>
              <a:t>8/11/2026</a:t>
            </a:fld>
            <a:endParaRPr lang="en-US"/>
          </a:p>
        </p:txBody>
      </p:sp>
      <p:sp>
        <p:nvSpPr>
          <p:cNvPr id="6" name="Footer Placeholder 5">
            <a:extLst>
              <a:ext uri="{FF2B5EF4-FFF2-40B4-BE49-F238E27FC236}">
                <a16:creationId xmlns:a16="http://schemas.microsoft.com/office/drawing/2014/main" id="{9F2E12C7-43BA-936C-9FD4-D469A1ABD5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B66D66-57A6-0DE3-C695-7623480BF0E7}"/>
              </a:ext>
            </a:extLst>
          </p:cNvPr>
          <p:cNvSpPr>
            <a:spLocks noGrp="1"/>
          </p:cNvSpPr>
          <p:nvPr>
            <p:ph type="sldNum" sz="quarter" idx="12"/>
          </p:nvPr>
        </p:nvSpPr>
        <p:spPr/>
        <p:txBody>
          <a:bodyPr/>
          <a:lstStyle/>
          <a:p>
            <a:fld id="{B53DEDA6-22E3-48D9-A301-0E964143E9BF}" type="slidenum">
              <a:rPr lang="en-US" smtClean="0"/>
              <a:t>‹#›</a:t>
            </a:fld>
            <a:endParaRPr lang="en-US"/>
          </a:p>
        </p:txBody>
      </p:sp>
    </p:spTree>
    <p:extLst>
      <p:ext uri="{BB962C8B-B14F-4D97-AF65-F5344CB8AC3E}">
        <p14:creationId xmlns:p14="http://schemas.microsoft.com/office/powerpoint/2010/main" val="28113447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971A0-B18A-517E-2BF3-D13D17827D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438ABA-9F7F-9F1F-6029-B82AFB2E1FF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23021CA-4353-D16E-2B18-CE0029B432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F666B2-3CC2-350C-51D2-BB8463AAF676}"/>
              </a:ext>
            </a:extLst>
          </p:cNvPr>
          <p:cNvSpPr>
            <a:spLocks noGrp="1"/>
          </p:cNvSpPr>
          <p:nvPr>
            <p:ph type="dt" sz="half" idx="10"/>
          </p:nvPr>
        </p:nvSpPr>
        <p:spPr/>
        <p:txBody>
          <a:bodyPr/>
          <a:lstStyle/>
          <a:p>
            <a:fld id="{C2A5F4F2-5659-43BC-9605-E7F2FF8DA50C}" type="datetimeFigureOut">
              <a:rPr lang="en-US" smtClean="0"/>
              <a:t>8/11/2026</a:t>
            </a:fld>
            <a:endParaRPr lang="en-US"/>
          </a:p>
        </p:txBody>
      </p:sp>
      <p:sp>
        <p:nvSpPr>
          <p:cNvPr id="6" name="Footer Placeholder 5">
            <a:extLst>
              <a:ext uri="{FF2B5EF4-FFF2-40B4-BE49-F238E27FC236}">
                <a16:creationId xmlns:a16="http://schemas.microsoft.com/office/drawing/2014/main" id="{8CC94991-EFD3-1DF2-681F-8746E78362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8DFCF2-CCB9-A867-BB11-6F5BB72DF7D6}"/>
              </a:ext>
            </a:extLst>
          </p:cNvPr>
          <p:cNvSpPr>
            <a:spLocks noGrp="1"/>
          </p:cNvSpPr>
          <p:nvPr>
            <p:ph type="sldNum" sz="quarter" idx="12"/>
          </p:nvPr>
        </p:nvSpPr>
        <p:spPr/>
        <p:txBody>
          <a:bodyPr/>
          <a:lstStyle/>
          <a:p>
            <a:fld id="{B53DEDA6-22E3-48D9-A301-0E964143E9BF}" type="slidenum">
              <a:rPr lang="en-US" smtClean="0"/>
              <a:t>‹#›</a:t>
            </a:fld>
            <a:endParaRPr lang="en-US"/>
          </a:p>
        </p:txBody>
      </p:sp>
    </p:spTree>
    <p:extLst>
      <p:ext uri="{BB962C8B-B14F-4D97-AF65-F5344CB8AC3E}">
        <p14:creationId xmlns:p14="http://schemas.microsoft.com/office/powerpoint/2010/main" val="22807484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21130-B6F3-086C-68BC-F2B2E08562E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8BB42E4-E56F-4B33-1E9D-B025CB594E6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D13E90-37F4-9ABF-6E08-D896540B1792}"/>
              </a:ext>
            </a:extLst>
          </p:cNvPr>
          <p:cNvSpPr>
            <a:spLocks noGrp="1"/>
          </p:cNvSpPr>
          <p:nvPr>
            <p:ph type="dt" sz="half" idx="10"/>
          </p:nvPr>
        </p:nvSpPr>
        <p:spPr/>
        <p:txBody>
          <a:bodyPr/>
          <a:lstStyle/>
          <a:p>
            <a:fld id="{C2A5F4F2-5659-43BC-9605-E7F2FF8DA50C}" type="datetimeFigureOut">
              <a:rPr lang="en-US" smtClean="0"/>
              <a:t>8/11/2026</a:t>
            </a:fld>
            <a:endParaRPr lang="en-US"/>
          </a:p>
        </p:txBody>
      </p:sp>
      <p:sp>
        <p:nvSpPr>
          <p:cNvPr id="5" name="Footer Placeholder 4">
            <a:extLst>
              <a:ext uri="{FF2B5EF4-FFF2-40B4-BE49-F238E27FC236}">
                <a16:creationId xmlns:a16="http://schemas.microsoft.com/office/drawing/2014/main" id="{4001AD61-B8F2-9558-CCC4-31DCF6D184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BD508CF-7163-410E-95B8-B1E80FDA1CDB}"/>
              </a:ext>
            </a:extLst>
          </p:cNvPr>
          <p:cNvSpPr>
            <a:spLocks noGrp="1"/>
          </p:cNvSpPr>
          <p:nvPr>
            <p:ph type="sldNum" sz="quarter" idx="12"/>
          </p:nvPr>
        </p:nvSpPr>
        <p:spPr/>
        <p:txBody>
          <a:bodyPr/>
          <a:lstStyle/>
          <a:p>
            <a:fld id="{B53DEDA6-22E3-48D9-A301-0E964143E9BF}" type="slidenum">
              <a:rPr lang="en-US" smtClean="0"/>
              <a:t>‹#›</a:t>
            </a:fld>
            <a:endParaRPr lang="en-US"/>
          </a:p>
        </p:txBody>
      </p:sp>
    </p:spTree>
    <p:extLst>
      <p:ext uri="{BB962C8B-B14F-4D97-AF65-F5344CB8AC3E}">
        <p14:creationId xmlns:p14="http://schemas.microsoft.com/office/powerpoint/2010/main" val="14541869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645A099-EE13-3E79-A06C-381AAA512A5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6CDC966-4E57-ADFB-D78E-68FAF3336DA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9A906E1-108D-D33E-F7FB-F9DF789340C8}"/>
              </a:ext>
            </a:extLst>
          </p:cNvPr>
          <p:cNvSpPr>
            <a:spLocks noGrp="1"/>
          </p:cNvSpPr>
          <p:nvPr>
            <p:ph type="dt" sz="half" idx="10"/>
          </p:nvPr>
        </p:nvSpPr>
        <p:spPr/>
        <p:txBody>
          <a:bodyPr/>
          <a:lstStyle/>
          <a:p>
            <a:fld id="{C2A5F4F2-5659-43BC-9605-E7F2FF8DA50C}" type="datetimeFigureOut">
              <a:rPr lang="en-US" smtClean="0"/>
              <a:t>8/11/2026</a:t>
            </a:fld>
            <a:endParaRPr lang="en-US"/>
          </a:p>
        </p:txBody>
      </p:sp>
      <p:sp>
        <p:nvSpPr>
          <p:cNvPr id="5" name="Footer Placeholder 4">
            <a:extLst>
              <a:ext uri="{FF2B5EF4-FFF2-40B4-BE49-F238E27FC236}">
                <a16:creationId xmlns:a16="http://schemas.microsoft.com/office/drawing/2014/main" id="{0438C501-3845-8F33-48D6-DBEE45D8D7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C5B79A-8A89-B536-A0FC-DDB029467701}"/>
              </a:ext>
            </a:extLst>
          </p:cNvPr>
          <p:cNvSpPr>
            <a:spLocks noGrp="1"/>
          </p:cNvSpPr>
          <p:nvPr>
            <p:ph type="sldNum" sz="quarter" idx="12"/>
          </p:nvPr>
        </p:nvSpPr>
        <p:spPr/>
        <p:txBody>
          <a:bodyPr/>
          <a:lstStyle/>
          <a:p>
            <a:fld id="{B53DEDA6-22E3-48D9-A301-0E964143E9BF}" type="slidenum">
              <a:rPr lang="en-US" smtClean="0"/>
              <a:t>‹#›</a:t>
            </a:fld>
            <a:endParaRPr lang="en-US"/>
          </a:p>
        </p:txBody>
      </p:sp>
    </p:spTree>
    <p:extLst>
      <p:ext uri="{BB962C8B-B14F-4D97-AF65-F5344CB8AC3E}">
        <p14:creationId xmlns:p14="http://schemas.microsoft.com/office/powerpoint/2010/main" val="3678477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6BC158D-7976-FAFA-6D48-2FBDB9D0FC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1CEE227-65F9-B53F-0D70-6905B2FB756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77EB29-1AF1-B78F-F149-3752A8DAC0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2A5F4F2-5659-43BC-9605-E7F2FF8DA50C}" type="datetimeFigureOut">
              <a:rPr lang="en-US" smtClean="0"/>
              <a:t>8/11/2026</a:t>
            </a:fld>
            <a:endParaRPr lang="en-US"/>
          </a:p>
        </p:txBody>
      </p:sp>
      <p:sp>
        <p:nvSpPr>
          <p:cNvPr id="5" name="Footer Placeholder 4">
            <a:extLst>
              <a:ext uri="{FF2B5EF4-FFF2-40B4-BE49-F238E27FC236}">
                <a16:creationId xmlns:a16="http://schemas.microsoft.com/office/drawing/2014/main" id="{99FA4DC2-AD4A-5018-DEF2-DC6DCB8E39E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3888EBE-83DA-A863-A015-2A8AB537B4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3DEDA6-22E3-48D9-A301-0E964143E9BF}" type="slidenum">
              <a:rPr lang="en-US" smtClean="0"/>
              <a:t>‹#›</a:t>
            </a:fld>
            <a:endParaRPr lang="en-US"/>
          </a:p>
        </p:txBody>
      </p:sp>
    </p:spTree>
    <p:extLst>
      <p:ext uri="{BB962C8B-B14F-4D97-AF65-F5344CB8AC3E}">
        <p14:creationId xmlns:p14="http://schemas.microsoft.com/office/powerpoint/2010/main" val="19967562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mailto:radiantdetectiveinvestigations@gmail.com"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3888F397-B368-17C7-25D6-6E732BDFA7D1}"/>
              </a:ext>
            </a:extLst>
          </p:cNvPr>
          <p:cNvSpPr>
            <a:spLocks noGrp="1"/>
          </p:cNvSpPr>
          <p:nvPr>
            <p:ph type="subTitle" idx="1"/>
          </p:nvPr>
        </p:nvSpPr>
        <p:spPr>
          <a:xfrm>
            <a:off x="707136" y="554038"/>
            <a:ext cx="10789920" cy="5773610"/>
          </a:xfrm>
        </p:spPr>
        <p:txBody>
          <a:bodyPr/>
          <a:lstStyle/>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sz="4000" i="1" u="sng" dirty="0">
                <a:solidFill>
                  <a:srgbClr val="002060"/>
                </a:solidFill>
                <a:latin typeface="Imprint MT Shadow" panose="04020605060303030202" pitchFamily="82" charset="0"/>
              </a:rPr>
              <a:t>RADIANT DETECTIVE</a:t>
            </a:r>
          </a:p>
          <a:p>
            <a:pPr>
              <a:spcBef>
                <a:spcPts val="0"/>
              </a:spcBef>
            </a:pPr>
            <a:endParaRPr lang="en-US" sz="3600" dirty="0">
              <a:latin typeface="Algerian" panose="04020705040A02060702" pitchFamily="82" charset="0"/>
            </a:endParaRPr>
          </a:p>
          <a:p>
            <a:r>
              <a:rPr lang="en-US" sz="4400" b="1" dirty="0">
                <a:solidFill>
                  <a:srgbClr val="002060"/>
                </a:solidFill>
                <a:latin typeface="Blackadder ITC" panose="04020505051007020D02" pitchFamily="82" charset="0"/>
              </a:rPr>
              <a:t>“’</a:t>
            </a:r>
            <a:r>
              <a:rPr lang="en-US" sz="4400" b="1" dirty="0">
                <a:solidFill>
                  <a:srgbClr val="002060"/>
                </a:solidFill>
                <a:latin typeface="Curlz MT" panose="04040404050702020202" pitchFamily="82" charset="0"/>
              </a:rPr>
              <a:t>Your Trusted Eyes When It Matters Most.”</a:t>
            </a:r>
          </a:p>
          <a:p>
            <a:endParaRPr lang="en-US" dirty="0"/>
          </a:p>
          <a:p>
            <a:endParaRPr lang="en-US" dirty="0"/>
          </a:p>
        </p:txBody>
      </p:sp>
      <p:pic>
        <p:nvPicPr>
          <p:cNvPr id="4" name="Picture 3">
            <a:extLst>
              <a:ext uri="{FF2B5EF4-FFF2-40B4-BE49-F238E27FC236}">
                <a16:creationId xmlns:a16="http://schemas.microsoft.com/office/drawing/2014/main" id="{CCE00521-0F3A-9CBD-19BA-19A9054A602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8941" y="654908"/>
            <a:ext cx="4077729" cy="3496962"/>
          </a:xfrm>
          <a:prstGeom prst="rect">
            <a:avLst/>
          </a:prstGeom>
        </p:spPr>
      </p:pic>
    </p:spTree>
    <p:extLst>
      <p:ext uri="{BB962C8B-B14F-4D97-AF65-F5344CB8AC3E}">
        <p14:creationId xmlns:p14="http://schemas.microsoft.com/office/powerpoint/2010/main" val="3110031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0ECB2-4AE7-8AB0-CC06-1D4562D4450F}"/>
              </a:ext>
            </a:extLst>
          </p:cNvPr>
          <p:cNvSpPr>
            <a:spLocks noGrp="1"/>
          </p:cNvSpPr>
          <p:nvPr>
            <p:ph type="title"/>
          </p:nvPr>
        </p:nvSpPr>
        <p:spPr/>
        <p:txBody>
          <a:bodyPr/>
          <a:lstStyle/>
          <a:p>
            <a:endParaRPr lang="en-GB"/>
          </a:p>
        </p:txBody>
      </p:sp>
      <p:sp>
        <p:nvSpPr>
          <p:cNvPr id="3" name="Text Placeholder 2">
            <a:extLst>
              <a:ext uri="{FF2B5EF4-FFF2-40B4-BE49-F238E27FC236}">
                <a16:creationId xmlns:a16="http://schemas.microsoft.com/office/drawing/2014/main" id="{5679667E-E898-AE42-AA29-BFD4FB68F9EA}"/>
              </a:ext>
            </a:extLst>
          </p:cNvPr>
          <p:cNvSpPr>
            <a:spLocks noGrp="1"/>
          </p:cNvSpPr>
          <p:nvPr>
            <p:ph type="body" idx="1"/>
          </p:nvPr>
        </p:nvSpPr>
        <p:spPr/>
        <p:txBody>
          <a:bodyPr/>
          <a:lstStyle/>
          <a:p>
            <a:endParaRPr lang="en-GB"/>
          </a:p>
        </p:txBody>
      </p:sp>
      <p:pic>
        <p:nvPicPr>
          <p:cNvPr id="5" name="Picture 4" descr="A gold and silver logo&#10;&#10;AI-generated content may be incorrect.">
            <a:extLst>
              <a:ext uri="{FF2B5EF4-FFF2-40B4-BE49-F238E27FC236}">
                <a16:creationId xmlns:a16="http://schemas.microsoft.com/office/drawing/2014/main" id="{D33CEB78-768E-9ADC-4172-566806CF10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87078" y="-889969"/>
            <a:ext cx="10531953" cy="9010310"/>
          </a:xfrm>
          <a:prstGeom prst="rect">
            <a:avLst/>
          </a:prstGeom>
        </p:spPr>
      </p:pic>
    </p:spTree>
    <p:extLst>
      <p:ext uri="{BB962C8B-B14F-4D97-AF65-F5344CB8AC3E}">
        <p14:creationId xmlns:p14="http://schemas.microsoft.com/office/powerpoint/2010/main" val="21145050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E86C2-D649-9BA8-A242-07D8F7A1CCD7}"/>
              </a:ext>
            </a:extLst>
          </p:cNvPr>
          <p:cNvSpPr>
            <a:spLocks noGrp="1"/>
          </p:cNvSpPr>
          <p:nvPr>
            <p:ph type="title"/>
          </p:nvPr>
        </p:nvSpPr>
        <p:spPr>
          <a:xfrm>
            <a:off x="177800" y="276225"/>
            <a:ext cx="11722100" cy="6251575"/>
          </a:xfrm>
        </p:spPr>
        <p:txBody>
          <a:bodyPr>
            <a:normAutofit fontScale="90000"/>
          </a:bodyPr>
          <a:lstStyle/>
          <a:p>
            <a:pPr algn="ctr"/>
            <a:br>
              <a:rPr lang="en-US" sz="2200" b="1" i="1" u="sng" dirty="0">
                <a:latin typeface="Bookman Old Style" panose="02050604050505020204" pitchFamily="18" charset="0"/>
              </a:rPr>
            </a:br>
            <a:br>
              <a:rPr lang="en-US" sz="2200" b="1" i="1" u="sng" dirty="0">
                <a:latin typeface="Bookman Old Style" panose="02050604050505020204" pitchFamily="18" charset="0"/>
              </a:rPr>
            </a:br>
            <a:br>
              <a:rPr lang="en-US" sz="2200" b="1" i="1" u="sng" dirty="0">
                <a:latin typeface="Bookman Old Style" panose="02050604050505020204" pitchFamily="18" charset="0"/>
              </a:rPr>
            </a:br>
            <a:r>
              <a:rPr lang="en-US" sz="2400" b="1" i="1" u="sng" dirty="0">
                <a:latin typeface="Bookman Old Style" panose="02050604050505020204" pitchFamily="18" charset="0"/>
              </a:rPr>
              <a:t>About Radiant Detective Agency:</a:t>
            </a:r>
            <a:br>
              <a:rPr lang="en-US" sz="2800" b="1" dirty="0"/>
            </a:br>
            <a:r>
              <a:rPr lang="en-US" sz="2800" b="1" dirty="0"/>
              <a:t>					</a:t>
            </a:r>
            <a:br>
              <a:rPr lang="en-US" sz="2800" b="1" dirty="0"/>
            </a:br>
            <a:r>
              <a:rPr lang="en-US" dirty="0">
                <a:solidFill>
                  <a:srgbClr val="002060"/>
                </a:solidFill>
                <a:latin typeface="Bookman Old Style" panose="02050604050505020204" pitchFamily="18" charset="0"/>
              </a:rPr>
              <a:t>Radiant Detective Agency stands as a trusted name in the field of private investigation, known for its professionalism, precision, and unwavering commitment to truth. Over the years, right from day one in </a:t>
            </a:r>
            <a:r>
              <a:rPr lang="en-US" sz="4000" u="sng" dirty="0">
                <a:solidFill>
                  <a:srgbClr val="002060"/>
                </a:solidFill>
                <a:latin typeface="Bodoni MT Black" panose="02070A03080606020203" pitchFamily="18" charset="0"/>
              </a:rPr>
              <a:t>2006</a:t>
            </a:r>
            <a:r>
              <a:rPr lang="en-US" dirty="0">
                <a:solidFill>
                  <a:srgbClr val="002060"/>
                </a:solidFill>
                <a:latin typeface="Bookman Old Style" panose="02050604050505020204" pitchFamily="18" charset="0"/>
              </a:rPr>
              <a:t> we have built a reputation for delivering clear, actionable results through ethical investigation methods and advanced surveillance techniques.</a:t>
            </a:r>
            <a:br>
              <a:rPr lang="en-US" dirty="0"/>
            </a:br>
            <a:br>
              <a:rPr lang="en-US" dirty="0"/>
            </a:br>
            <a:endParaRPr lang="en-US" dirty="0">
              <a:latin typeface="Bookman Old Style" panose="02050604050505020204" pitchFamily="18" charset="0"/>
            </a:endParaRPr>
          </a:p>
        </p:txBody>
      </p:sp>
    </p:spTree>
    <p:extLst>
      <p:ext uri="{BB962C8B-B14F-4D97-AF65-F5344CB8AC3E}">
        <p14:creationId xmlns:p14="http://schemas.microsoft.com/office/powerpoint/2010/main" val="34306561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CC9394-9D40-A3FA-8E24-BA588E331324}"/>
              </a:ext>
            </a:extLst>
          </p:cNvPr>
          <p:cNvSpPr>
            <a:spLocks noGrp="1"/>
          </p:cNvSpPr>
          <p:nvPr>
            <p:ph type="title"/>
          </p:nvPr>
        </p:nvSpPr>
        <p:spPr>
          <a:xfrm>
            <a:off x="114300" y="190500"/>
            <a:ext cx="11963400" cy="6667499"/>
          </a:xfrm>
        </p:spPr>
        <p:txBody>
          <a:bodyPr>
            <a:normAutofit fontScale="90000"/>
          </a:bodyPr>
          <a:lstStyle/>
          <a:p>
            <a:pPr algn="ctr"/>
            <a:br>
              <a:rPr lang="en-US" sz="2400" b="1" i="1" u="sng" dirty="0">
                <a:latin typeface="Bookman Old Style" panose="02050604050505020204" pitchFamily="18" charset="0"/>
              </a:rPr>
            </a:br>
            <a:br>
              <a:rPr lang="en-US" sz="2400" b="1" i="1" u="sng" dirty="0">
                <a:latin typeface="Bookman Old Style" panose="02050604050505020204" pitchFamily="18" charset="0"/>
              </a:rPr>
            </a:br>
            <a:br>
              <a:rPr lang="en-US" sz="2400" b="1" i="1" u="sng" dirty="0">
                <a:latin typeface="Bookman Old Style" panose="02050604050505020204" pitchFamily="18" charset="0"/>
              </a:rPr>
            </a:br>
            <a:r>
              <a:rPr lang="en-US" b="1" i="1" u="sng" dirty="0">
                <a:latin typeface="Bookman Old Style" panose="02050604050505020204" pitchFamily="18" charset="0"/>
              </a:rPr>
              <a:t>What We Do:</a:t>
            </a:r>
            <a:br>
              <a:rPr lang="en-US" b="1" i="1" u="sng" dirty="0">
                <a:latin typeface="Bookman Old Style" panose="02050604050505020204" pitchFamily="18" charset="0"/>
              </a:rPr>
            </a:br>
            <a:r>
              <a:rPr lang="en-US" dirty="0">
                <a:latin typeface="Bookman Old Style" panose="02050604050505020204" pitchFamily="18" charset="0"/>
              </a:rPr>
              <a:t>	</a:t>
            </a:r>
            <a:br>
              <a:rPr lang="en-US" dirty="0">
                <a:latin typeface="Bookman Old Style" panose="02050604050505020204" pitchFamily="18" charset="0"/>
              </a:rPr>
            </a:br>
            <a:r>
              <a:rPr lang="en-US" dirty="0">
                <a:latin typeface="Bookman Old Style" panose="02050604050505020204" pitchFamily="18" charset="0"/>
              </a:rPr>
              <a:t>	 </a:t>
            </a:r>
            <a:br>
              <a:rPr lang="en-US" dirty="0">
                <a:latin typeface="Bookman Old Style" panose="02050604050505020204" pitchFamily="18" charset="0"/>
              </a:rPr>
            </a:br>
            <a:r>
              <a:rPr lang="en-US" dirty="0">
                <a:solidFill>
                  <a:srgbClr val="002060"/>
                </a:solidFill>
                <a:latin typeface="Bookman Old Style" panose="02050604050505020204" pitchFamily="18" charset="0"/>
              </a:rPr>
              <a:t>Radiant Detective Agency offers a comprehensive range of investigative services designed to bring clarity, confidence, and security to individuals as well as businesses:</a:t>
            </a:r>
            <a:br>
              <a:rPr lang="en-US" sz="2200" dirty="0">
                <a:solidFill>
                  <a:srgbClr val="002060"/>
                </a:solidFill>
                <a:latin typeface="Bookman Old Style" panose="02050604050505020204" pitchFamily="18" charset="0"/>
              </a:rPr>
            </a:br>
            <a:br>
              <a:rPr lang="en-US" sz="2200" dirty="0">
                <a:solidFill>
                  <a:srgbClr val="002060"/>
                </a:solidFill>
                <a:latin typeface="Bookman Old Style" panose="02050604050505020204" pitchFamily="18" charset="0"/>
              </a:rPr>
            </a:br>
            <a:br>
              <a:rPr lang="en-US" sz="2200" dirty="0">
                <a:solidFill>
                  <a:srgbClr val="002060"/>
                </a:solidFill>
                <a:latin typeface="Bookman Old Style" panose="02050604050505020204" pitchFamily="18" charset="0"/>
              </a:rPr>
            </a:br>
            <a:br>
              <a:rPr lang="en-US" sz="2200" dirty="0">
                <a:solidFill>
                  <a:srgbClr val="002060"/>
                </a:solidFill>
                <a:latin typeface="Bookman Old Style" panose="02050604050505020204" pitchFamily="18" charset="0"/>
              </a:rPr>
            </a:br>
            <a:br>
              <a:rPr lang="en-US" sz="2200" dirty="0">
                <a:latin typeface="Bookman Old Style" panose="02050604050505020204" pitchFamily="18" charset="0"/>
              </a:rPr>
            </a:br>
            <a:br>
              <a:rPr lang="en-US" dirty="0"/>
            </a:br>
            <a:endParaRPr lang="en-US" dirty="0"/>
          </a:p>
        </p:txBody>
      </p:sp>
    </p:spTree>
    <p:extLst>
      <p:ext uri="{BB962C8B-B14F-4D97-AF65-F5344CB8AC3E}">
        <p14:creationId xmlns:p14="http://schemas.microsoft.com/office/powerpoint/2010/main" val="26857610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31AEC-CF31-E237-7765-CE1D00FFBB98}"/>
              </a:ext>
            </a:extLst>
          </p:cNvPr>
          <p:cNvSpPr>
            <a:spLocks noGrp="1"/>
          </p:cNvSpPr>
          <p:nvPr>
            <p:ph type="ctrTitle"/>
          </p:nvPr>
        </p:nvSpPr>
        <p:spPr>
          <a:xfrm>
            <a:off x="0" y="0"/>
            <a:ext cx="12192000" cy="6857999"/>
          </a:xfrm>
        </p:spPr>
        <p:txBody>
          <a:bodyPr>
            <a:normAutofit fontScale="90000"/>
          </a:bodyPr>
          <a:lstStyle/>
          <a:p>
            <a:r>
              <a:rPr lang="en-US" sz="3600" dirty="0">
                <a:solidFill>
                  <a:srgbClr val="002060"/>
                </a:solidFill>
                <a:latin typeface="Bookman Old Style" panose="02050604050505020204" pitchFamily="18" charset="0"/>
              </a:rPr>
              <a:t>a) </a:t>
            </a:r>
            <a:r>
              <a:rPr lang="en-US" sz="3600" b="1" u="sng" dirty="0">
                <a:solidFill>
                  <a:srgbClr val="002060"/>
                </a:solidFill>
                <a:latin typeface="Bookman Old Style" panose="02050604050505020204" pitchFamily="18" charset="0"/>
              </a:rPr>
              <a:t>Pre- &amp; Post-Matrimonial Investigations</a:t>
            </a:r>
            <a:br>
              <a:rPr lang="en-US" sz="3600" dirty="0">
                <a:solidFill>
                  <a:srgbClr val="002060"/>
                </a:solidFill>
                <a:latin typeface="Bookman Old Style" panose="02050604050505020204" pitchFamily="18" charset="0"/>
              </a:rPr>
            </a:br>
            <a:br>
              <a:rPr lang="en-US" sz="3600" dirty="0">
                <a:solidFill>
                  <a:srgbClr val="002060"/>
                </a:solidFill>
                <a:latin typeface="Bookman Old Style" panose="02050604050505020204" pitchFamily="18" charset="0"/>
              </a:rPr>
            </a:br>
            <a:r>
              <a:rPr lang="en-US" sz="3600" dirty="0">
                <a:solidFill>
                  <a:srgbClr val="002060"/>
                </a:solidFill>
                <a:latin typeface="Bookman Old Style" panose="02050604050505020204" pitchFamily="18" charset="0"/>
              </a:rPr>
              <a:t>b) </a:t>
            </a:r>
            <a:r>
              <a:rPr lang="en-US" sz="3600" b="1" u="sng" dirty="0">
                <a:solidFill>
                  <a:srgbClr val="002060"/>
                </a:solidFill>
                <a:latin typeface="Bookman Old Style" panose="02050604050505020204" pitchFamily="18" charset="0"/>
              </a:rPr>
              <a:t>Corporate &amp; Employee Background Checks</a:t>
            </a:r>
            <a:br>
              <a:rPr lang="en-US" sz="3600" dirty="0">
                <a:solidFill>
                  <a:srgbClr val="002060"/>
                </a:solidFill>
                <a:latin typeface="Bookman Old Style" panose="02050604050505020204" pitchFamily="18" charset="0"/>
              </a:rPr>
            </a:br>
            <a:br>
              <a:rPr lang="en-US" sz="3600" dirty="0">
                <a:solidFill>
                  <a:srgbClr val="002060"/>
                </a:solidFill>
                <a:latin typeface="Bookman Old Style" panose="02050604050505020204" pitchFamily="18" charset="0"/>
              </a:rPr>
            </a:br>
            <a:r>
              <a:rPr lang="en-US" sz="3600" dirty="0">
                <a:solidFill>
                  <a:srgbClr val="002060"/>
                </a:solidFill>
                <a:latin typeface="Bookman Old Style" panose="02050604050505020204" pitchFamily="18" charset="0"/>
              </a:rPr>
              <a:t>c) </a:t>
            </a:r>
            <a:r>
              <a:rPr lang="en-US" sz="3600" b="1" u="sng" dirty="0">
                <a:solidFill>
                  <a:srgbClr val="002060"/>
                </a:solidFill>
                <a:latin typeface="Bookman Old Style" panose="02050604050505020204" pitchFamily="18" charset="0"/>
              </a:rPr>
              <a:t>Surveillance &amp; Evidence Collection</a:t>
            </a:r>
            <a:br>
              <a:rPr lang="en-US" sz="3600" dirty="0">
                <a:solidFill>
                  <a:srgbClr val="002060"/>
                </a:solidFill>
                <a:latin typeface="Bookman Old Style" panose="02050604050505020204" pitchFamily="18" charset="0"/>
              </a:rPr>
            </a:br>
            <a:br>
              <a:rPr lang="en-US" sz="3600" dirty="0">
                <a:solidFill>
                  <a:srgbClr val="002060"/>
                </a:solidFill>
                <a:latin typeface="Bookman Old Style" panose="02050604050505020204" pitchFamily="18" charset="0"/>
              </a:rPr>
            </a:br>
            <a:r>
              <a:rPr lang="en-US" sz="3600" dirty="0">
                <a:solidFill>
                  <a:srgbClr val="002060"/>
                </a:solidFill>
                <a:latin typeface="Bookman Old Style" panose="02050604050505020204" pitchFamily="18" charset="0"/>
              </a:rPr>
              <a:t>d) </a:t>
            </a:r>
            <a:r>
              <a:rPr lang="en-US" sz="3600" b="1" u="sng" dirty="0">
                <a:solidFill>
                  <a:srgbClr val="002060"/>
                </a:solidFill>
                <a:latin typeface="Bookman Old Style" panose="02050604050505020204" pitchFamily="18" charset="0"/>
              </a:rPr>
              <a:t>Missing Person Tracing</a:t>
            </a:r>
            <a:br>
              <a:rPr lang="en-US" sz="3600" dirty="0">
                <a:solidFill>
                  <a:srgbClr val="002060"/>
                </a:solidFill>
                <a:latin typeface="Bookman Old Style" panose="02050604050505020204" pitchFamily="18" charset="0"/>
              </a:rPr>
            </a:br>
            <a:br>
              <a:rPr lang="en-US" sz="3600" dirty="0">
                <a:solidFill>
                  <a:srgbClr val="002060"/>
                </a:solidFill>
                <a:latin typeface="Bookman Old Style" panose="02050604050505020204" pitchFamily="18" charset="0"/>
              </a:rPr>
            </a:br>
            <a:r>
              <a:rPr lang="en-US" sz="3600" dirty="0">
                <a:solidFill>
                  <a:srgbClr val="002060"/>
                </a:solidFill>
                <a:latin typeface="Bookman Old Style" panose="02050604050505020204" pitchFamily="18" charset="0"/>
              </a:rPr>
              <a:t>e) </a:t>
            </a:r>
            <a:r>
              <a:rPr lang="en-US" sz="3600" b="1" u="sng" dirty="0">
                <a:solidFill>
                  <a:srgbClr val="002060"/>
                </a:solidFill>
                <a:latin typeface="Bookman Old Style" panose="02050604050505020204" pitchFamily="18" charset="0"/>
              </a:rPr>
              <a:t>Fraud, Cheating &amp; Financial Investigation</a:t>
            </a:r>
            <a:br>
              <a:rPr lang="en-US" sz="3600" dirty="0">
                <a:solidFill>
                  <a:srgbClr val="002060"/>
                </a:solidFill>
                <a:latin typeface="Bookman Old Style" panose="02050604050505020204" pitchFamily="18" charset="0"/>
              </a:rPr>
            </a:br>
            <a:br>
              <a:rPr lang="en-US" sz="3600" dirty="0">
                <a:solidFill>
                  <a:srgbClr val="002060"/>
                </a:solidFill>
                <a:latin typeface="Bookman Old Style" panose="02050604050505020204" pitchFamily="18" charset="0"/>
              </a:rPr>
            </a:br>
            <a:r>
              <a:rPr lang="en-US" sz="3600" dirty="0">
                <a:solidFill>
                  <a:srgbClr val="002060"/>
                </a:solidFill>
                <a:latin typeface="Bookman Old Style" panose="02050604050505020204" pitchFamily="18" charset="0"/>
              </a:rPr>
              <a:t>f) </a:t>
            </a:r>
            <a:r>
              <a:rPr lang="en-US" sz="3600" b="1" u="sng" dirty="0">
                <a:solidFill>
                  <a:srgbClr val="002060"/>
                </a:solidFill>
                <a:latin typeface="Bookman Old Style" panose="02050604050505020204" pitchFamily="18" charset="0"/>
              </a:rPr>
              <a:t>Cyber Investigation &amp; Digital Footprint Analysis</a:t>
            </a:r>
            <a:br>
              <a:rPr lang="en-US" sz="3600" b="1" u="sng" dirty="0">
                <a:solidFill>
                  <a:srgbClr val="002060"/>
                </a:solidFill>
                <a:latin typeface="Bookman Old Style" panose="02050604050505020204" pitchFamily="18" charset="0"/>
              </a:rPr>
            </a:br>
            <a:br>
              <a:rPr lang="en-US" sz="3600" b="1" u="sng" dirty="0">
                <a:solidFill>
                  <a:srgbClr val="002060"/>
                </a:solidFill>
                <a:latin typeface="Bookman Old Style" panose="02050604050505020204" pitchFamily="18" charset="0"/>
              </a:rPr>
            </a:br>
            <a:r>
              <a:rPr lang="en-US" sz="3600" u="sng" dirty="0">
                <a:solidFill>
                  <a:srgbClr val="002060"/>
                </a:solidFill>
                <a:latin typeface="Bookman Old Style" panose="02050604050505020204" pitchFamily="18" charset="0"/>
              </a:rPr>
              <a:t>g) </a:t>
            </a:r>
            <a:r>
              <a:rPr lang="en-US" sz="3600" b="1" u="sng" dirty="0">
                <a:solidFill>
                  <a:srgbClr val="002060"/>
                </a:solidFill>
                <a:latin typeface="Bookman Old Style" panose="02050604050505020204" pitchFamily="18" charset="0"/>
              </a:rPr>
              <a:t>Tracing Loan Defaulters &amp; Recovery Support</a:t>
            </a:r>
            <a:br>
              <a:rPr lang="en-US" sz="3600" b="1" u="sng" dirty="0">
                <a:solidFill>
                  <a:srgbClr val="002060"/>
                </a:solidFill>
                <a:latin typeface="Bookman Old Style" panose="02050604050505020204" pitchFamily="18" charset="0"/>
              </a:rPr>
            </a:br>
            <a:endParaRPr lang="en-US" sz="3600" b="1" u="sng" dirty="0">
              <a:solidFill>
                <a:srgbClr val="002060"/>
              </a:solidFill>
              <a:latin typeface="Bookman Old Style" panose="02050604050505020204" pitchFamily="18" charset="0"/>
            </a:endParaRPr>
          </a:p>
        </p:txBody>
      </p:sp>
    </p:spTree>
    <p:extLst>
      <p:ext uri="{BB962C8B-B14F-4D97-AF65-F5344CB8AC3E}">
        <p14:creationId xmlns:p14="http://schemas.microsoft.com/office/powerpoint/2010/main" val="22615115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E6F168-4EB5-F078-6C39-D35C0854AC8B}"/>
              </a:ext>
            </a:extLst>
          </p:cNvPr>
          <p:cNvSpPr>
            <a:spLocks noGrp="1"/>
          </p:cNvSpPr>
          <p:nvPr>
            <p:ph type="title"/>
          </p:nvPr>
        </p:nvSpPr>
        <p:spPr>
          <a:xfrm>
            <a:off x="0" y="1"/>
            <a:ext cx="12192000" cy="6858000"/>
          </a:xfrm>
        </p:spPr>
        <p:txBody>
          <a:bodyPr>
            <a:normAutofit/>
          </a:bodyPr>
          <a:lstStyle/>
          <a:p>
            <a:pPr algn="ctr"/>
            <a:r>
              <a:rPr lang="en-US" sz="2400" b="1" i="1" u="sng" dirty="0">
                <a:latin typeface="Bookman Old Style" panose="02050604050505020204" pitchFamily="18" charset="0"/>
              </a:rPr>
              <a:t>Pre- &amp; Post-Matrimonial Investigations:</a:t>
            </a:r>
            <a:br>
              <a:rPr lang="en-US" sz="2400" b="1" i="1" u="sng" dirty="0">
                <a:latin typeface="Bookman Old Style" panose="02050604050505020204" pitchFamily="18" charset="0"/>
              </a:rPr>
            </a:br>
            <a:br>
              <a:rPr lang="en-US" sz="2000" b="1" i="1" u="sng" dirty="0">
                <a:latin typeface="Bookman Old Style" panose="02050604050505020204" pitchFamily="18" charset="0"/>
              </a:rPr>
            </a:br>
            <a:r>
              <a:rPr lang="en-US" sz="2000" dirty="0">
                <a:latin typeface="Bookman Old Style" panose="02050604050505020204" pitchFamily="18" charset="0"/>
              </a:rPr>
              <a:t>Matrimonial investigations are professional services used to verify the claims, character, and activities of a prospective partner or a current spouse. These are broadly categorized into </a:t>
            </a:r>
            <a:r>
              <a:rPr lang="en-US" sz="2000" i="1" u="sng" dirty="0">
                <a:latin typeface="Bookman Old Style" panose="02050604050505020204" pitchFamily="18" charset="0"/>
              </a:rPr>
              <a:t>Pre-Matrimonial</a:t>
            </a:r>
            <a:r>
              <a:rPr lang="en-US" sz="2000" dirty="0">
                <a:latin typeface="Bookman Old Style" panose="02050604050505020204" pitchFamily="18" charset="0"/>
              </a:rPr>
              <a:t> (preventative) &amp; </a:t>
            </a:r>
            <a:r>
              <a:rPr lang="en-US" sz="2000" i="1" u="sng" dirty="0">
                <a:latin typeface="Bookman Old Style" panose="02050604050505020204" pitchFamily="18" charset="0"/>
              </a:rPr>
              <a:t>Post-Matrimonial</a:t>
            </a:r>
            <a:r>
              <a:rPr lang="en-US" sz="2000" dirty="0">
                <a:latin typeface="Bookman Old Style" panose="02050604050505020204" pitchFamily="18" charset="0"/>
              </a:rPr>
              <a:t> (corrective) investigations.</a:t>
            </a:r>
            <a:br>
              <a:rPr lang="en-US" sz="2000" dirty="0">
                <a:latin typeface="Bookman Old Style" panose="02050604050505020204" pitchFamily="18" charset="0"/>
              </a:rPr>
            </a:br>
            <a:br>
              <a:rPr lang="en-US" sz="2000" dirty="0">
                <a:latin typeface="Bookman Old Style" panose="02050604050505020204" pitchFamily="18" charset="0"/>
              </a:rPr>
            </a:br>
            <a:r>
              <a:rPr lang="en-US" sz="2000" b="1" dirty="0">
                <a:latin typeface="Bookman Old Style" panose="02050604050505020204" pitchFamily="18" charset="0"/>
              </a:rPr>
              <a:t>1. Pre-Matrimonial Investigations</a:t>
            </a:r>
            <a:br>
              <a:rPr lang="en-US" sz="2000" b="1" dirty="0">
                <a:latin typeface="Bookman Old Style" panose="02050604050505020204" pitchFamily="18" charset="0"/>
              </a:rPr>
            </a:br>
            <a:r>
              <a:rPr lang="en-US" sz="2000" dirty="0">
                <a:latin typeface="Bookman Old Style" panose="02050604050505020204" pitchFamily="18" charset="0"/>
              </a:rPr>
              <a:t>The goal here is to establish a foundation of trust before "tying the knot." It is especially common in arranged marriages or relationships initiated through matrimonial websites.</a:t>
            </a:r>
            <a:br>
              <a:rPr lang="en-US" sz="2000" dirty="0">
                <a:latin typeface="Bookman Old Style" panose="02050604050505020204" pitchFamily="18" charset="0"/>
              </a:rPr>
            </a:br>
            <a:r>
              <a:rPr lang="en-US" sz="2000" b="1" dirty="0">
                <a:latin typeface="Bookman Old Style" panose="02050604050505020204" pitchFamily="18" charset="0"/>
              </a:rPr>
              <a:t>Key Focus Areas:</a:t>
            </a:r>
            <a:br>
              <a:rPr lang="en-US" sz="2000" b="1" dirty="0">
                <a:latin typeface="Bookman Old Style" panose="02050604050505020204" pitchFamily="18" charset="0"/>
              </a:rPr>
            </a:br>
            <a:r>
              <a:rPr lang="en-US" sz="2000" b="1" dirty="0">
                <a:latin typeface="Bookman Old Style" panose="02050604050505020204" pitchFamily="18" charset="0"/>
              </a:rPr>
              <a:t>Background Verification:</a:t>
            </a:r>
            <a:r>
              <a:rPr lang="en-US" sz="2000" dirty="0">
                <a:latin typeface="Bookman Old Style" panose="02050604050505020204" pitchFamily="18" charset="0"/>
              </a:rPr>
              <a:t> Verifying education, current employment, and actual salary/position.</a:t>
            </a:r>
            <a:br>
              <a:rPr lang="en-US" sz="2000" dirty="0">
                <a:latin typeface="Bookman Old Style" panose="02050604050505020204" pitchFamily="18" charset="0"/>
              </a:rPr>
            </a:br>
            <a:r>
              <a:rPr lang="en-US" sz="2000" b="1" dirty="0">
                <a:latin typeface="Bookman Old Style" panose="02050604050505020204" pitchFamily="18" charset="0"/>
              </a:rPr>
              <a:t>Family Reputation:</a:t>
            </a:r>
            <a:r>
              <a:rPr lang="en-US" sz="2000" dirty="0">
                <a:latin typeface="Bookman Old Style" panose="02050604050505020204" pitchFamily="18" charset="0"/>
              </a:rPr>
              <a:t> Checking the social and economic standing of the family in their neighborhood or community.</a:t>
            </a:r>
            <a:br>
              <a:rPr lang="en-US" sz="2000" dirty="0">
                <a:latin typeface="Bookman Old Style" panose="02050604050505020204" pitchFamily="18" charset="0"/>
              </a:rPr>
            </a:br>
            <a:r>
              <a:rPr lang="en-US" sz="2000" b="1" dirty="0">
                <a:latin typeface="Bookman Old Style" panose="02050604050505020204" pitchFamily="18" charset="0"/>
              </a:rPr>
              <a:t>Character &amp; Lifestyle:</a:t>
            </a:r>
            <a:r>
              <a:rPr lang="en-US" sz="2000" dirty="0">
                <a:latin typeface="Bookman Old Style" panose="02050604050505020204" pitchFamily="18" charset="0"/>
              </a:rPr>
              <a:t> Investigating habits like smoking, drinking, drug use, or gambling, as well as checking for "hidden" past or current relationships.</a:t>
            </a:r>
            <a:br>
              <a:rPr lang="en-US" sz="2000" dirty="0">
                <a:latin typeface="Bookman Old Style" panose="02050604050505020204" pitchFamily="18" charset="0"/>
              </a:rPr>
            </a:br>
            <a:r>
              <a:rPr lang="en-US" sz="2000" b="1" dirty="0">
                <a:latin typeface="Bookman Old Style" panose="02050604050505020204" pitchFamily="18" charset="0"/>
              </a:rPr>
              <a:t>Financial Health:</a:t>
            </a:r>
            <a:r>
              <a:rPr lang="en-US" sz="2000" dirty="0">
                <a:latin typeface="Bookman Old Style" panose="02050604050505020204" pitchFamily="18" charset="0"/>
              </a:rPr>
              <a:t> Assessing assets, liabilities (loans/debts), and the general financial stability of the individual and family.</a:t>
            </a:r>
            <a:br>
              <a:rPr lang="en-US" sz="2000" dirty="0">
                <a:latin typeface="Bookman Old Style" panose="02050604050505020204" pitchFamily="18" charset="0"/>
              </a:rPr>
            </a:br>
            <a:r>
              <a:rPr lang="en-US" sz="2000" b="1" dirty="0">
                <a:latin typeface="Bookman Old Style" panose="02050604050505020204" pitchFamily="18" charset="0"/>
              </a:rPr>
              <a:t>Medical History:</a:t>
            </a:r>
            <a:r>
              <a:rPr lang="en-US" sz="2000" dirty="0">
                <a:latin typeface="Bookman Old Style" panose="02050604050505020204" pitchFamily="18" charset="0"/>
              </a:rPr>
              <a:t> Uncovering chronic illnesses or mental health issues that might have been concealed.</a:t>
            </a:r>
            <a:br>
              <a:rPr lang="en-US" sz="2000" dirty="0">
                <a:latin typeface="Bookman Old Style" panose="02050604050505020204" pitchFamily="18" charset="0"/>
              </a:rPr>
            </a:br>
            <a:r>
              <a:rPr lang="en-US" sz="2000" b="1" dirty="0">
                <a:latin typeface="Bookman Old Style" panose="02050604050505020204" pitchFamily="18" charset="0"/>
              </a:rPr>
              <a:t>Criminal Records:</a:t>
            </a:r>
            <a:r>
              <a:rPr lang="en-US" sz="2000" dirty="0">
                <a:latin typeface="Bookman Old Style" panose="02050604050505020204" pitchFamily="18" charset="0"/>
              </a:rPr>
              <a:t> Searching for any past or pending legal cases/FIRs.</a:t>
            </a:r>
            <a:br>
              <a:rPr lang="en-US" sz="1600" dirty="0">
                <a:latin typeface="Bookman Old Style" panose="02050604050505020204" pitchFamily="18" charset="0"/>
              </a:rPr>
            </a:br>
            <a:br>
              <a:rPr lang="en-US" sz="1600" dirty="0">
                <a:latin typeface="Bookman Old Style" panose="02050604050505020204" pitchFamily="18" charset="0"/>
              </a:rPr>
            </a:br>
            <a:endParaRPr lang="en-US" sz="1600" i="1" u="sng" dirty="0">
              <a:latin typeface="Bookman Old Style" panose="02050604050505020204" pitchFamily="18" charset="0"/>
            </a:endParaRPr>
          </a:p>
        </p:txBody>
      </p:sp>
    </p:spTree>
    <p:extLst>
      <p:ext uri="{BB962C8B-B14F-4D97-AF65-F5344CB8AC3E}">
        <p14:creationId xmlns:p14="http://schemas.microsoft.com/office/powerpoint/2010/main" val="8930307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CCD9D-4C7E-7AAD-46DC-D86A19D8D1BC}"/>
              </a:ext>
            </a:extLst>
          </p:cNvPr>
          <p:cNvSpPr>
            <a:spLocks noGrp="1"/>
          </p:cNvSpPr>
          <p:nvPr>
            <p:ph type="ctrTitle"/>
          </p:nvPr>
        </p:nvSpPr>
        <p:spPr>
          <a:xfrm>
            <a:off x="0" y="0"/>
            <a:ext cx="12192000" cy="6857999"/>
          </a:xfrm>
        </p:spPr>
        <p:txBody>
          <a:bodyPr>
            <a:normAutofit/>
          </a:bodyPr>
          <a:lstStyle/>
          <a:p>
            <a:r>
              <a:rPr lang="en-US" sz="2000" b="1" dirty="0">
                <a:latin typeface="Bookman Old Style" panose="02050604050505020204" pitchFamily="18" charset="0"/>
              </a:rPr>
              <a:t>2. Post-Matrimonial Investigations</a:t>
            </a:r>
            <a:br>
              <a:rPr lang="en-US" sz="1800" b="1" dirty="0">
                <a:latin typeface="Bookman Old Style" panose="02050604050505020204" pitchFamily="18" charset="0"/>
              </a:rPr>
            </a:br>
            <a:r>
              <a:rPr lang="en-US" sz="2000" dirty="0">
                <a:latin typeface="Bookman Old Style" panose="02050604050505020204" pitchFamily="18" charset="0"/>
              </a:rPr>
              <a:t>These are typically conducted when trust has already been compromised within a marriage. They are often used as evidence for legal proceedings like divorce or alimony cases.</a:t>
            </a:r>
            <a:br>
              <a:rPr lang="en-US" sz="2000" dirty="0">
                <a:latin typeface="Bookman Old Style" panose="02050604050505020204" pitchFamily="18" charset="0"/>
              </a:rPr>
            </a:br>
            <a:r>
              <a:rPr lang="en-US" sz="2000" b="1" dirty="0">
                <a:latin typeface="Bookman Old Style" panose="02050604050505020204" pitchFamily="18" charset="0"/>
              </a:rPr>
              <a:t>Key Focus Areas:</a:t>
            </a:r>
            <a:br>
              <a:rPr lang="en-US" sz="2000" b="1" dirty="0">
                <a:latin typeface="Bookman Old Style" panose="02050604050505020204" pitchFamily="18" charset="0"/>
              </a:rPr>
            </a:br>
            <a:r>
              <a:rPr lang="en-US" sz="2000" b="1" dirty="0">
                <a:latin typeface="Bookman Old Style" panose="02050604050505020204" pitchFamily="18" charset="0"/>
              </a:rPr>
              <a:t>Infidelity (Adultery):</a:t>
            </a:r>
            <a:r>
              <a:rPr lang="en-US" sz="2000" dirty="0">
                <a:latin typeface="Bookman Old Style" panose="02050604050505020204" pitchFamily="18" charset="0"/>
              </a:rPr>
              <a:t> Discreet surveillance to catch a cheating spouse, often involving photographic or video evidence.</a:t>
            </a:r>
            <a:br>
              <a:rPr lang="en-US" sz="2000" dirty="0">
                <a:latin typeface="Bookman Old Style" panose="02050604050505020204" pitchFamily="18" charset="0"/>
              </a:rPr>
            </a:br>
            <a:r>
              <a:rPr lang="en-US" sz="2000" b="1" dirty="0">
                <a:latin typeface="Bookman Old Style" panose="02050604050505020204" pitchFamily="18" charset="0"/>
              </a:rPr>
              <a:t>Hidden Assets:</a:t>
            </a:r>
            <a:r>
              <a:rPr lang="en-US" sz="2000" dirty="0">
                <a:latin typeface="Bookman Old Style" panose="02050604050505020204" pitchFamily="18" charset="0"/>
              </a:rPr>
              <a:t> Finding secret bank accounts, properties, or businesses, particularly during divorce settlements.</a:t>
            </a:r>
            <a:br>
              <a:rPr lang="en-US" sz="2000" dirty="0">
                <a:latin typeface="Bookman Old Style" panose="02050604050505020204" pitchFamily="18" charset="0"/>
              </a:rPr>
            </a:br>
            <a:r>
              <a:rPr lang="en-US" sz="2000" b="1" dirty="0">
                <a:latin typeface="Bookman Old Style" panose="02050604050505020204" pitchFamily="18" charset="0"/>
              </a:rPr>
              <a:t>Abuse or Harassment:</a:t>
            </a:r>
            <a:r>
              <a:rPr lang="en-US" sz="2000" dirty="0">
                <a:latin typeface="Bookman Old Style" panose="02050604050505020204" pitchFamily="18" charset="0"/>
              </a:rPr>
              <a:t> Documenting evidence of domestic violence or dowry-related harassment.</a:t>
            </a:r>
            <a:br>
              <a:rPr lang="en-US" sz="2000" dirty="0">
                <a:latin typeface="Bookman Old Style" panose="02050604050505020204" pitchFamily="18" charset="0"/>
              </a:rPr>
            </a:br>
            <a:r>
              <a:rPr lang="en-US" sz="2000" b="1" dirty="0">
                <a:latin typeface="Bookman Old Style" panose="02050604050505020204" pitchFamily="18" charset="0"/>
              </a:rPr>
              <a:t>Child Custody Support:</a:t>
            </a:r>
            <a:r>
              <a:rPr lang="en-US" sz="2000" dirty="0">
                <a:latin typeface="Bookman Old Style" panose="02050604050505020204" pitchFamily="18" charset="0"/>
              </a:rPr>
              <a:t> Gathering evidence of a spouse’s lifestyle or behavior to prove they are unfit for custody.</a:t>
            </a:r>
            <a:br>
              <a:rPr lang="en-US" sz="2000" dirty="0">
                <a:latin typeface="Bookman Old Style" panose="02050604050505020204" pitchFamily="18" charset="0"/>
              </a:rPr>
            </a:br>
            <a:r>
              <a:rPr lang="en-US" sz="2000" b="1" dirty="0">
                <a:latin typeface="Bookman Old Style" panose="02050604050505020204" pitchFamily="18" charset="0"/>
              </a:rPr>
              <a:t>Suspicious Activities:</a:t>
            </a:r>
            <a:r>
              <a:rPr lang="en-US" sz="2000" dirty="0">
                <a:latin typeface="Bookman Old Style" panose="02050604050505020204" pitchFamily="18" charset="0"/>
              </a:rPr>
              <a:t> Investigating sudden changes in routine, unexplained work hours, or secretive phone behavior.</a:t>
            </a:r>
            <a:br>
              <a:rPr lang="en-US" sz="2000" dirty="0">
                <a:latin typeface="Bookman Old Style" panose="02050604050505020204" pitchFamily="18" charset="0"/>
              </a:rPr>
            </a:br>
            <a:br>
              <a:rPr lang="en-US" sz="2000" dirty="0">
                <a:latin typeface="Bookman Old Style" panose="02050604050505020204" pitchFamily="18" charset="0"/>
              </a:rPr>
            </a:br>
            <a:r>
              <a:rPr lang="en-US" sz="2000" b="1" dirty="0">
                <a:latin typeface="Bookman Old Style" panose="02050604050505020204" pitchFamily="18" charset="0"/>
              </a:rPr>
              <a:t>How Investigations are Conducted</a:t>
            </a:r>
            <a:br>
              <a:rPr lang="en-US" sz="2000" b="1" dirty="0">
                <a:latin typeface="Bookman Old Style" panose="02050604050505020204" pitchFamily="18" charset="0"/>
              </a:rPr>
            </a:br>
            <a:r>
              <a:rPr lang="en-US" sz="2000" dirty="0">
                <a:latin typeface="Bookman Old Style" panose="02050604050505020204" pitchFamily="18" charset="0"/>
              </a:rPr>
              <a:t>We use a mix of "on-ground" work and digital tools:</a:t>
            </a:r>
            <a:br>
              <a:rPr lang="en-US" sz="2000" dirty="0">
                <a:latin typeface="Bookman Old Style" panose="02050604050505020204" pitchFamily="18" charset="0"/>
              </a:rPr>
            </a:br>
            <a:r>
              <a:rPr lang="en-US" sz="2000" b="1" dirty="0">
                <a:latin typeface="Bookman Old Style" panose="02050604050505020204" pitchFamily="18" charset="0"/>
              </a:rPr>
              <a:t>Surveillance:</a:t>
            </a:r>
            <a:r>
              <a:rPr lang="en-US" sz="2000" dirty="0">
                <a:latin typeface="Bookman Old Style" panose="02050604050505020204" pitchFamily="18" charset="0"/>
              </a:rPr>
              <a:t> Physical shadowing (tailing) the subject to document their daily routine and meetings.</a:t>
            </a:r>
            <a:br>
              <a:rPr lang="en-US" sz="2000" dirty="0">
                <a:latin typeface="Bookman Old Style" panose="02050604050505020204" pitchFamily="18" charset="0"/>
              </a:rPr>
            </a:br>
            <a:r>
              <a:rPr lang="en-US" sz="2000" b="1" dirty="0">
                <a:latin typeface="Bookman Old Style" panose="02050604050505020204" pitchFamily="18" charset="0"/>
              </a:rPr>
              <a:t>Digital Footprints:</a:t>
            </a:r>
            <a:r>
              <a:rPr lang="en-US" sz="2000" dirty="0">
                <a:latin typeface="Bookman Old Style" panose="02050604050505020204" pitchFamily="18" charset="0"/>
              </a:rPr>
              <a:t> Checking social media, online activities, and public records.</a:t>
            </a:r>
            <a:br>
              <a:rPr lang="en-US" sz="2000" dirty="0">
                <a:latin typeface="Bookman Old Style" panose="02050604050505020204" pitchFamily="18" charset="0"/>
              </a:rPr>
            </a:br>
            <a:r>
              <a:rPr lang="en-US" sz="2000" b="1" dirty="0">
                <a:latin typeface="Bookman Old Style" panose="02050604050505020204" pitchFamily="18" charset="0"/>
              </a:rPr>
              <a:t>Discreet Inquiries:</a:t>
            </a:r>
            <a:r>
              <a:rPr lang="en-US" sz="2000" dirty="0">
                <a:latin typeface="Bookman Old Style" panose="02050604050505020204" pitchFamily="18" charset="0"/>
              </a:rPr>
              <a:t> Interviewing neighbors, colleagues, or "friends of friends" without revealing our or client/’s true identity.</a:t>
            </a:r>
            <a:br>
              <a:rPr lang="en-US" sz="2000" dirty="0">
                <a:latin typeface="Bookman Old Style" panose="02050604050505020204" pitchFamily="18" charset="0"/>
              </a:rPr>
            </a:br>
            <a:r>
              <a:rPr lang="en-US" sz="2000" b="1" dirty="0">
                <a:latin typeface="Bookman Old Style" panose="02050604050505020204" pitchFamily="18" charset="0"/>
              </a:rPr>
              <a:t>Sting Operations:</a:t>
            </a:r>
            <a:r>
              <a:rPr lang="en-US" sz="2000" dirty="0">
                <a:latin typeface="Bookman Old Style" panose="02050604050505020204" pitchFamily="18" charset="0"/>
              </a:rPr>
              <a:t> In complex cases, we may use undercover tactics to reveal the truth.</a:t>
            </a:r>
            <a:br>
              <a:rPr lang="en-US" sz="2000" dirty="0">
                <a:latin typeface="Bookman Old Style" panose="02050604050505020204" pitchFamily="18" charset="0"/>
              </a:rPr>
            </a:br>
            <a:endParaRPr lang="en-US" sz="2000" dirty="0"/>
          </a:p>
        </p:txBody>
      </p:sp>
    </p:spTree>
    <p:extLst>
      <p:ext uri="{BB962C8B-B14F-4D97-AF65-F5344CB8AC3E}">
        <p14:creationId xmlns:p14="http://schemas.microsoft.com/office/powerpoint/2010/main" val="5091732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F6ED97-8D19-E3C5-D12D-8E2CF1A4BCFC}"/>
              </a:ext>
            </a:extLst>
          </p:cNvPr>
          <p:cNvSpPr>
            <a:spLocks noGrp="1"/>
          </p:cNvSpPr>
          <p:nvPr>
            <p:ph type="title"/>
          </p:nvPr>
        </p:nvSpPr>
        <p:spPr>
          <a:xfrm>
            <a:off x="0" y="1"/>
            <a:ext cx="12192000" cy="6858000"/>
          </a:xfrm>
        </p:spPr>
        <p:txBody>
          <a:bodyPr>
            <a:normAutofit fontScale="90000"/>
          </a:bodyPr>
          <a:lstStyle/>
          <a:p>
            <a:pPr algn="ctr">
              <a:lnSpc>
                <a:spcPct val="100000"/>
              </a:lnSpc>
            </a:pPr>
            <a:br>
              <a:rPr lang="en-US" dirty="0"/>
            </a:br>
            <a:br>
              <a:rPr lang="en-US" dirty="0"/>
            </a:br>
            <a:r>
              <a:rPr lang="en-US" sz="4000" b="1" u="sng" dirty="0">
                <a:latin typeface="Bookman Old Style" panose="02050604050505020204" pitchFamily="18" charset="0"/>
              </a:rPr>
              <a:t>Corporate &amp; Employee Background Checks:</a:t>
            </a:r>
            <a:br>
              <a:rPr lang="en-US" sz="4000" b="1" u="sng" dirty="0">
                <a:latin typeface="Bookman Old Style" panose="02050604050505020204" pitchFamily="18" charset="0"/>
              </a:rPr>
            </a:br>
            <a:br>
              <a:rPr lang="en-US" sz="1100" b="1" u="sng" dirty="0">
                <a:latin typeface="Bookman Old Style" panose="02050604050505020204" pitchFamily="18" charset="0"/>
              </a:rPr>
            </a:br>
            <a:r>
              <a:rPr lang="en-US" sz="2200" dirty="0">
                <a:latin typeface="Bookman Old Style" panose="02050604050505020204" pitchFamily="18" charset="0"/>
              </a:rPr>
              <a:t>Corporate and employee </a:t>
            </a:r>
            <a:r>
              <a:rPr lang="en-US" sz="2200" b="1" u="sng" dirty="0">
                <a:latin typeface="Bookman Old Style" panose="02050604050505020204" pitchFamily="18" charset="0"/>
              </a:rPr>
              <a:t>background checks</a:t>
            </a:r>
            <a:r>
              <a:rPr lang="en-US" sz="2200" u="sng" dirty="0">
                <a:latin typeface="Bookman Old Style" panose="02050604050505020204" pitchFamily="18" charset="0"/>
              </a:rPr>
              <a:t> </a:t>
            </a:r>
            <a:r>
              <a:rPr lang="en-US" sz="2200" dirty="0">
                <a:latin typeface="Bookman Old Style" panose="02050604050505020204" pitchFamily="18" charset="0"/>
              </a:rPr>
              <a:t>are a critical part of the hiring process and corporate due diligence. They involve verifying the accuracy of information provided by job candidates or assessing the integrity and reputation of a business, supplier, or partner.</a:t>
            </a:r>
            <a:br>
              <a:rPr lang="en-US" sz="2200" dirty="0">
                <a:latin typeface="Bookman Old Style" panose="02050604050505020204" pitchFamily="18" charset="0"/>
              </a:rPr>
            </a:br>
            <a:r>
              <a:rPr lang="en-US" sz="2200" b="1" dirty="0">
                <a:latin typeface="Bookman Old Style" panose="02050604050505020204" pitchFamily="18" charset="0"/>
              </a:rPr>
              <a:t>1. Employee Background Checks (Pre-Employment Screening)</a:t>
            </a:r>
            <a:br>
              <a:rPr lang="en-US" sz="2200" b="1" dirty="0">
                <a:latin typeface="Bookman Old Style" panose="02050604050505020204" pitchFamily="18" charset="0"/>
              </a:rPr>
            </a:br>
            <a:r>
              <a:rPr lang="en-US" sz="2200" dirty="0">
                <a:latin typeface="Bookman Old Style" panose="02050604050505020204" pitchFamily="18" charset="0"/>
              </a:rPr>
              <a:t>These checks are performed on prospective employees to mitigate risks like workplace violence, fraud, theft, and negligent hiring claims. The scope of the check usually depends on the job's seniority and sensitivity.</a:t>
            </a:r>
            <a:br>
              <a:rPr lang="en-US" sz="2200" dirty="0">
                <a:latin typeface="Bookman Old Style" panose="02050604050505020204" pitchFamily="18" charset="0"/>
              </a:rPr>
            </a:br>
            <a:br>
              <a:rPr lang="en-US" sz="2200" dirty="0">
                <a:latin typeface="Bookman Old Style" panose="02050604050505020204" pitchFamily="18" charset="0"/>
              </a:rPr>
            </a:br>
            <a:r>
              <a:rPr lang="en-US" sz="2200" b="1" dirty="0">
                <a:latin typeface="Bookman Old Style" panose="02050604050505020204" pitchFamily="18" charset="0"/>
              </a:rPr>
              <a:t>Key Verification Areas:</a:t>
            </a:r>
            <a:br>
              <a:rPr lang="en-US" sz="2200" b="1" dirty="0">
                <a:latin typeface="Bookman Old Style" panose="02050604050505020204" pitchFamily="18" charset="0"/>
              </a:rPr>
            </a:br>
            <a:r>
              <a:rPr lang="en-US" sz="2200" b="1" dirty="0">
                <a:latin typeface="Bookman Old Style" panose="02050604050505020204" pitchFamily="18" charset="0"/>
              </a:rPr>
              <a:t>Identity and Address Verification:</a:t>
            </a:r>
            <a:r>
              <a:rPr lang="en-US" sz="2200" dirty="0">
                <a:latin typeface="Bookman Old Style" panose="02050604050505020204" pitchFamily="18" charset="0"/>
              </a:rPr>
              <a:t> Confirming the candidate's legal identity and current/previous residential addresses.</a:t>
            </a:r>
            <a:br>
              <a:rPr lang="en-US" sz="2200" dirty="0">
                <a:latin typeface="Bookman Old Style" panose="02050604050505020204" pitchFamily="18" charset="0"/>
              </a:rPr>
            </a:br>
            <a:r>
              <a:rPr lang="en-US" sz="2200" b="1" dirty="0">
                <a:latin typeface="Bookman Old Style" panose="02050604050505020204" pitchFamily="18" charset="0"/>
              </a:rPr>
              <a:t>Educational Credentials:</a:t>
            </a:r>
            <a:r>
              <a:rPr lang="en-US" sz="2200" dirty="0">
                <a:latin typeface="Bookman Old Style" panose="02050604050505020204" pitchFamily="18" charset="0"/>
              </a:rPr>
              <a:t> Contacting institutions to verify degrees, diplomas, and dates of attendance to prevent "resume padding.“</a:t>
            </a:r>
            <a:br>
              <a:rPr lang="en-US" sz="2200" dirty="0">
                <a:latin typeface="Bookman Old Style" panose="02050604050505020204" pitchFamily="18" charset="0"/>
              </a:rPr>
            </a:br>
            <a:r>
              <a:rPr lang="en-US" sz="2200" b="1" dirty="0">
                <a:latin typeface="Bookman Old Style" panose="02050604050505020204" pitchFamily="18" charset="0"/>
              </a:rPr>
              <a:t>Employment History:</a:t>
            </a:r>
            <a:r>
              <a:rPr lang="en-US" sz="2200" dirty="0">
                <a:latin typeface="Bookman Old Style" panose="02050604050505020204" pitchFamily="18" charset="0"/>
              </a:rPr>
              <a:t> Confirming past job titles, dates of employment, and, sometimes, reasons for leaving. This helps identify undisclosed gaps in employment.</a:t>
            </a:r>
            <a:br>
              <a:rPr lang="en-US" sz="2200" dirty="0">
                <a:latin typeface="Bookman Old Style" panose="02050604050505020204" pitchFamily="18" charset="0"/>
              </a:rPr>
            </a:br>
            <a:r>
              <a:rPr lang="en-US" sz="2200" b="1" dirty="0">
                <a:latin typeface="Bookman Old Style" panose="02050604050505020204" pitchFamily="18" charset="0"/>
              </a:rPr>
              <a:t>Criminal Records:</a:t>
            </a:r>
            <a:r>
              <a:rPr lang="en-US" sz="2200" dirty="0">
                <a:latin typeface="Bookman Old Style" panose="02050604050505020204" pitchFamily="18" charset="0"/>
              </a:rPr>
              <a:t> Searching national, state, and local court records for convictions.</a:t>
            </a:r>
            <a:br>
              <a:rPr lang="en-US" sz="2200" dirty="0">
                <a:latin typeface="Bookman Old Style" panose="02050604050505020204" pitchFamily="18" charset="0"/>
              </a:rPr>
            </a:br>
            <a:br>
              <a:rPr lang="en-US" sz="2200" dirty="0">
                <a:latin typeface="Bookman Old Style" panose="02050604050505020204" pitchFamily="18" charset="0"/>
              </a:rPr>
            </a:br>
            <a:r>
              <a:rPr lang="en-US" sz="2200" b="1" dirty="0">
                <a:latin typeface="Bookman Old Style" panose="02050604050505020204" pitchFamily="18" charset="0"/>
              </a:rPr>
              <a:t>Reference Checks:</a:t>
            </a:r>
            <a:r>
              <a:rPr lang="en-US" sz="2200" dirty="0">
                <a:latin typeface="Bookman Old Style" panose="02050604050505020204" pitchFamily="18" charset="0"/>
              </a:rPr>
              <a:t> Contacting provided references to gain insight into the candidate's work ethic and character.</a:t>
            </a:r>
            <a:br>
              <a:rPr lang="en-US" sz="1800" dirty="0">
                <a:latin typeface="Bookman Old Style" panose="02050604050505020204" pitchFamily="18" charset="0"/>
              </a:rPr>
            </a:br>
            <a:br>
              <a:rPr lang="en-US" sz="1300" dirty="0">
                <a:latin typeface="Bookman Old Style" panose="02050604050505020204" pitchFamily="18" charset="0"/>
              </a:rPr>
            </a:br>
            <a:br>
              <a:rPr lang="en-US" sz="1300" dirty="0">
                <a:latin typeface="Bookman Old Style" panose="02050604050505020204" pitchFamily="18" charset="0"/>
              </a:rPr>
            </a:br>
            <a:br>
              <a:rPr lang="en-US" dirty="0"/>
            </a:br>
            <a:endParaRPr lang="en-US" sz="1300" dirty="0">
              <a:latin typeface="Bookman Old Style" panose="02050604050505020204" pitchFamily="18" charset="0"/>
            </a:endParaRPr>
          </a:p>
        </p:txBody>
      </p:sp>
    </p:spTree>
    <p:extLst>
      <p:ext uri="{BB962C8B-B14F-4D97-AF65-F5344CB8AC3E}">
        <p14:creationId xmlns:p14="http://schemas.microsoft.com/office/powerpoint/2010/main" val="37831924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58D5B-89B1-0AC0-4279-BD72C3669E14}"/>
              </a:ext>
            </a:extLst>
          </p:cNvPr>
          <p:cNvSpPr>
            <a:spLocks noGrp="1"/>
          </p:cNvSpPr>
          <p:nvPr>
            <p:ph type="ctrTitle"/>
          </p:nvPr>
        </p:nvSpPr>
        <p:spPr>
          <a:xfrm>
            <a:off x="0" y="0"/>
            <a:ext cx="12192000" cy="6857999"/>
          </a:xfrm>
        </p:spPr>
        <p:txBody>
          <a:bodyPr>
            <a:normAutofit fontScale="90000"/>
          </a:bodyPr>
          <a:lstStyle/>
          <a:p>
            <a:r>
              <a:rPr lang="en-US" sz="2200" b="1" dirty="0">
                <a:latin typeface="Bookman Old Style" panose="02050604050505020204" pitchFamily="18" charset="0"/>
              </a:rPr>
              <a:t>2. Corporate Background Checks (Due Diligence)</a:t>
            </a:r>
            <a:br>
              <a:rPr lang="en-US" sz="2200" b="1" dirty="0">
                <a:latin typeface="Bookman Old Style" panose="02050604050505020204" pitchFamily="18" charset="0"/>
              </a:rPr>
            </a:br>
            <a:br>
              <a:rPr lang="en-US" sz="2200" b="1" dirty="0">
                <a:latin typeface="Bookman Old Style" panose="02050604050505020204" pitchFamily="18" charset="0"/>
              </a:rPr>
            </a:br>
            <a:r>
              <a:rPr lang="en-US" sz="2200" dirty="0">
                <a:latin typeface="Bookman Old Style" panose="02050604050505020204" pitchFamily="18" charset="0"/>
              </a:rPr>
              <a:t>These checks focus on the integrity, stability, and reputation of a company or its key executives, often before mergers, acquisitions, or significant investments.</a:t>
            </a:r>
            <a:br>
              <a:rPr lang="en-US" sz="2200" dirty="0">
                <a:latin typeface="Bookman Old Style" panose="02050604050505020204" pitchFamily="18" charset="0"/>
              </a:rPr>
            </a:br>
            <a:br>
              <a:rPr lang="en-US" sz="2200" dirty="0">
                <a:latin typeface="Bookman Old Style" panose="02050604050505020204" pitchFamily="18" charset="0"/>
              </a:rPr>
            </a:br>
            <a:r>
              <a:rPr lang="en-US" sz="2200" b="1" dirty="0">
                <a:latin typeface="Bookman Old Style" panose="02050604050505020204" pitchFamily="18" charset="0"/>
              </a:rPr>
              <a:t>Key Verification Areas:</a:t>
            </a:r>
            <a:br>
              <a:rPr lang="en-US" sz="2200" b="1" dirty="0">
                <a:latin typeface="Bookman Old Style" panose="02050604050505020204" pitchFamily="18" charset="0"/>
              </a:rPr>
            </a:br>
            <a:r>
              <a:rPr lang="en-US" sz="2200" b="1" dirty="0">
                <a:latin typeface="Bookman Old Style" panose="02050604050505020204" pitchFamily="18" charset="0"/>
              </a:rPr>
              <a:t>Litigation History:</a:t>
            </a:r>
            <a:r>
              <a:rPr lang="en-US" sz="2200" dirty="0">
                <a:latin typeface="Bookman Old Style" panose="02050604050505020204" pitchFamily="18" charset="0"/>
              </a:rPr>
              <a:t> Reviewing past and pending lawsuits involving the company, its subsidiaries, or its directors/officers.</a:t>
            </a:r>
            <a:br>
              <a:rPr lang="en-US" sz="2200" dirty="0">
                <a:latin typeface="Bookman Old Style" panose="02050604050505020204" pitchFamily="18" charset="0"/>
              </a:rPr>
            </a:br>
            <a:br>
              <a:rPr lang="en-US" sz="2200" dirty="0">
                <a:latin typeface="Bookman Old Style" panose="02050604050505020204" pitchFamily="18" charset="0"/>
              </a:rPr>
            </a:br>
            <a:r>
              <a:rPr lang="en-US" sz="2200" b="1" dirty="0">
                <a:latin typeface="Bookman Old Style" panose="02050604050505020204" pitchFamily="18" charset="0"/>
              </a:rPr>
              <a:t>Regulatory Compliance:</a:t>
            </a:r>
            <a:r>
              <a:rPr lang="en-US" sz="2200" dirty="0">
                <a:latin typeface="Bookman Old Style" panose="02050604050505020204" pitchFamily="18" charset="0"/>
              </a:rPr>
              <a:t> Checking for regulatory fines, penalties, or violations issued by governing bodies.</a:t>
            </a:r>
            <a:br>
              <a:rPr lang="en-US" sz="2200" dirty="0">
                <a:latin typeface="Bookman Old Style" panose="02050604050505020204" pitchFamily="18" charset="0"/>
              </a:rPr>
            </a:br>
            <a:br>
              <a:rPr lang="en-US" sz="2200" dirty="0">
                <a:latin typeface="Bookman Old Style" panose="02050604050505020204" pitchFamily="18" charset="0"/>
              </a:rPr>
            </a:br>
            <a:r>
              <a:rPr lang="en-US" sz="2200" b="1" dirty="0">
                <a:latin typeface="Bookman Old Style" panose="02050604050505020204" pitchFamily="18" charset="0"/>
              </a:rPr>
              <a:t>Financial Stability:</a:t>
            </a:r>
            <a:r>
              <a:rPr lang="en-US" sz="2200" dirty="0">
                <a:latin typeface="Bookman Old Style" panose="02050604050505020204" pitchFamily="18" charset="0"/>
              </a:rPr>
              <a:t> Analyzing public financial statements.</a:t>
            </a:r>
            <a:br>
              <a:rPr lang="en-US" sz="2200" dirty="0">
                <a:latin typeface="Bookman Old Style" panose="02050604050505020204" pitchFamily="18" charset="0"/>
              </a:rPr>
            </a:br>
            <a:br>
              <a:rPr lang="en-US" sz="2200" dirty="0">
                <a:latin typeface="Bookman Old Style" panose="02050604050505020204" pitchFamily="18" charset="0"/>
              </a:rPr>
            </a:br>
            <a:r>
              <a:rPr lang="en-US" sz="2200" b="1" dirty="0">
                <a:latin typeface="Bookman Old Style" panose="02050604050505020204" pitchFamily="18" charset="0"/>
              </a:rPr>
              <a:t>Reputation and Media Check:</a:t>
            </a:r>
            <a:r>
              <a:rPr lang="en-US" sz="2200" dirty="0">
                <a:latin typeface="Bookman Old Style" panose="02050604050505020204" pitchFamily="18" charset="0"/>
              </a:rPr>
              <a:t> Searching public records, news articles, and social media for negative press, ethical issues, or controversies.</a:t>
            </a:r>
            <a:br>
              <a:rPr lang="en-US" sz="2200" dirty="0">
                <a:latin typeface="Bookman Old Style" panose="02050604050505020204" pitchFamily="18" charset="0"/>
              </a:rPr>
            </a:br>
            <a:br>
              <a:rPr lang="en-US" sz="2200" dirty="0">
                <a:latin typeface="Bookman Old Style" panose="02050604050505020204" pitchFamily="18" charset="0"/>
              </a:rPr>
            </a:br>
            <a:r>
              <a:rPr lang="en-US" sz="2200" b="1" dirty="0">
                <a:latin typeface="Bookman Old Style" panose="02050604050505020204" pitchFamily="18" charset="0"/>
              </a:rPr>
              <a:t>Corporate Structure and Ownership:</a:t>
            </a:r>
            <a:r>
              <a:rPr lang="en-US" sz="2200" dirty="0">
                <a:latin typeface="Bookman Old Style" panose="02050604050505020204" pitchFamily="18" charset="0"/>
              </a:rPr>
              <a:t> Verifying the legal structure, main shareholders, and beneficial ownership to identify potential conflicts of interest.</a:t>
            </a:r>
            <a:br>
              <a:rPr lang="en-US" sz="2200" dirty="0">
                <a:latin typeface="Bookman Old Style" panose="02050604050505020204" pitchFamily="18" charset="0"/>
              </a:rPr>
            </a:br>
            <a:br>
              <a:rPr lang="en-US" sz="2200" dirty="0">
                <a:latin typeface="Bookman Old Style" panose="02050604050505020204" pitchFamily="18" charset="0"/>
              </a:rPr>
            </a:br>
            <a:r>
              <a:rPr lang="en-US" sz="2200" b="1" dirty="0">
                <a:latin typeface="Bookman Old Style" panose="02050604050505020204" pitchFamily="18" charset="0"/>
              </a:rPr>
              <a:t>Key Executive Integrity:</a:t>
            </a:r>
            <a:r>
              <a:rPr lang="en-US" sz="2200" dirty="0">
                <a:latin typeface="Bookman Old Style" panose="02050604050505020204" pitchFamily="18" charset="0"/>
              </a:rPr>
              <a:t> Comprehensive background checks on the company's founders, CEOs, and senior management, similar to high-level employee screening (criminal, financial, professional history).</a:t>
            </a:r>
            <a:endParaRPr lang="en-US" dirty="0"/>
          </a:p>
        </p:txBody>
      </p:sp>
    </p:spTree>
    <p:extLst>
      <p:ext uri="{BB962C8B-B14F-4D97-AF65-F5344CB8AC3E}">
        <p14:creationId xmlns:p14="http://schemas.microsoft.com/office/powerpoint/2010/main" val="37550975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82519F-AD84-4A94-F7F6-D102E9CA7211}"/>
              </a:ext>
            </a:extLst>
          </p:cNvPr>
          <p:cNvSpPr>
            <a:spLocks noGrp="1"/>
          </p:cNvSpPr>
          <p:nvPr>
            <p:ph type="title"/>
          </p:nvPr>
        </p:nvSpPr>
        <p:spPr>
          <a:xfrm>
            <a:off x="0" y="1"/>
            <a:ext cx="12192000" cy="6858000"/>
          </a:xfrm>
        </p:spPr>
        <p:txBody>
          <a:bodyPr>
            <a:normAutofit/>
          </a:bodyPr>
          <a:lstStyle/>
          <a:p>
            <a:pPr algn="ctr"/>
            <a:r>
              <a:rPr lang="en-US" sz="2000" b="1" i="1" u="sng" dirty="0">
                <a:latin typeface="Bookman Old Style" panose="02050604050505020204" pitchFamily="18" charset="0"/>
              </a:rPr>
              <a:t>Surveillance &amp; Evidence Collection:</a:t>
            </a:r>
            <a:br>
              <a:rPr lang="en-US" sz="2000" dirty="0">
                <a:latin typeface="Bookman Old Style" panose="02050604050505020204" pitchFamily="18" charset="0"/>
              </a:rPr>
            </a:br>
            <a:r>
              <a:rPr lang="en-US" sz="2000" dirty="0">
                <a:latin typeface="Bookman Old Style" panose="02050604050505020204" pitchFamily="18" charset="0"/>
              </a:rPr>
              <a:t>Surveillance and evidence collection are the "bread and butter" of private and professional investigations. These processes involve the discreet observation of people, places, or activities to gather factual, undeniable proof that can be used in personal, corporate, or legal settings.</a:t>
            </a:r>
            <a:br>
              <a:rPr lang="en-US" sz="2000" dirty="0">
                <a:latin typeface="Bookman Old Style" panose="02050604050505020204" pitchFamily="18" charset="0"/>
              </a:rPr>
            </a:br>
            <a:br>
              <a:rPr lang="en-US" sz="2000" dirty="0">
                <a:latin typeface="Bookman Old Style" panose="02050604050505020204" pitchFamily="18" charset="0"/>
              </a:rPr>
            </a:br>
            <a:r>
              <a:rPr lang="en-US" sz="2000" b="1" dirty="0">
                <a:latin typeface="Bookman Old Style" panose="02050604050505020204" pitchFamily="18" charset="0"/>
              </a:rPr>
              <a:t>Objectives of Corporate &amp; Employee BGC</a:t>
            </a:r>
            <a:br>
              <a:rPr lang="en-US" sz="2000" b="1" dirty="0">
                <a:latin typeface="Bookman Old Style" panose="02050604050505020204" pitchFamily="18" charset="0"/>
              </a:rPr>
            </a:br>
            <a:r>
              <a:rPr lang="en-US" sz="2000" dirty="0">
                <a:latin typeface="Bookman Old Style" panose="02050604050505020204" pitchFamily="18" charset="0"/>
              </a:rPr>
              <a:t>The primary goal of background checks is </a:t>
            </a:r>
            <a:r>
              <a:rPr lang="en-US" sz="2000" u="sng" dirty="0">
                <a:latin typeface="Bookman Old Style" panose="02050604050505020204" pitchFamily="18" charset="0"/>
              </a:rPr>
              <a:t>risk mitigation </a:t>
            </a:r>
            <a:r>
              <a:rPr lang="en-US" sz="2000" dirty="0">
                <a:latin typeface="Bookman Old Style" panose="02050604050505020204" pitchFamily="18" charset="0"/>
              </a:rPr>
              <a:t>and ensuring a </a:t>
            </a:r>
            <a:r>
              <a:rPr lang="en-US" sz="2000" u="sng" dirty="0">
                <a:latin typeface="Bookman Old Style" panose="02050604050505020204" pitchFamily="18" charset="0"/>
              </a:rPr>
              <a:t>trustworthy workforce</a:t>
            </a:r>
            <a:r>
              <a:rPr lang="en-US" sz="2000" dirty="0">
                <a:latin typeface="Bookman Old Style" panose="02050604050505020204" pitchFamily="18" charset="0"/>
              </a:rPr>
              <a:t>.</a:t>
            </a:r>
            <a:br>
              <a:rPr lang="en-US" sz="2000" dirty="0">
                <a:latin typeface="Bookman Old Style" panose="02050604050505020204" pitchFamily="18" charset="0"/>
              </a:rPr>
            </a:br>
            <a:r>
              <a:rPr lang="en-US" sz="2000" b="1" dirty="0">
                <a:latin typeface="Bookman Old Style" panose="02050604050505020204" pitchFamily="18" charset="0"/>
              </a:rPr>
              <a:t>Verifying Credentials:</a:t>
            </a:r>
            <a:r>
              <a:rPr lang="en-US" sz="2000" dirty="0">
                <a:latin typeface="Bookman Old Style" panose="02050604050505020204" pitchFamily="18" charset="0"/>
              </a:rPr>
              <a:t> Confirming the accuracy of information provided on a resume or job application (e.g., employment history, educational degrees).</a:t>
            </a:r>
            <a:br>
              <a:rPr lang="en-US" sz="2000" dirty="0">
                <a:latin typeface="Bookman Old Style" panose="02050604050505020204" pitchFamily="18" charset="0"/>
              </a:rPr>
            </a:br>
            <a:br>
              <a:rPr lang="en-US" sz="2000" dirty="0">
                <a:latin typeface="Bookman Old Style" panose="02050604050505020204" pitchFamily="18" charset="0"/>
              </a:rPr>
            </a:br>
            <a:r>
              <a:rPr lang="en-US" sz="2000" b="1" dirty="0">
                <a:latin typeface="Bookman Old Style" panose="02050604050505020204" pitchFamily="18" charset="0"/>
              </a:rPr>
              <a:t>Workplace Safety:</a:t>
            </a:r>
            <a:r>
              <a:rPr lang="en-US" sz="2000" dirty="0">
                <a:latin typeface="Bookman Old Style" panose="02050604050505020204" pitchFamily="18" charset="0"/>
              </a:rPr>
              <a:t> Identifying any history of criminal activity, violence, or substance abuse to protect existing employees and customers.</a:t>
            </a:r>
            <a:br>
              <a:rPr lang="en-US" sz="2000" dirty="0">
                <a:latin typeface="Bookman Old Style" panose="02050604050505020204" pitchFamily="18" charset="0"/>
              </a:rPr>
            </a:br>
            <a:br>
              <a:rPr lang="en-US" sz="2000" dirty="0">
                <a:latin typeface="Bookman Old Style" panose="02050604050505020204" pitchFamily="18" charset="0"/>
              </a:rPr>
            </a:br>
            <a:r>
              <a:rPr lang="en-US" sz="2000" b="1" dirty="0">
                <a:latin typeface="Bookman Old Style" panose="02050604050505020204" pitchFamily="18" charset="0"/>
              </a:rPr>
              <a:t>Financial Integrity:</a:t>
            </a:r>
            <a:r>
              <a:rPr lang="en-US" sz="2000" dirty="0">
                <a:latin typeface="Bookman Old Style" panose="02050604050505020204" pitchFamily="18" charset="0"/>
              </a:rPr>
              <a:t> Checking credit history or financial misconduct for roles that involve handling money or sensitive financial data (e.g., accounting, executive positions).</a:t>
            </a:r>
            <a:br>
              <a:rPr lang="en-US" sz="2000" dirty="0">
                <a:latin typeface="Bookman Old Style" panose="02050604050505020204" pitchFamily="18" charset="0"/>
              </a:rPr>
            </a:br>
            <a:br>
              <a:rPr lang="en-US" sz="2000" dirty="0">
                <a:latin typeface="Bookman Old Style" panose="02050604050505020204" pitchFamily="18" charset="0"/>
              </a:rPr>
            </a:br>
            <a:r>
              <a:rPr lang="en-US" sz="2000" b="1" dirty="0">
                <a:latin typeface="Bookman Old Style" panose="02050604050505020204" pitchFamily="18" charset="0"/>
              </a:rPr>
              <a:t>Regulatory Compliance:</a:t>
            </a:r>
            <a:r>
              <a:rPr lang="en-US" sz="2000" dirty="0">
                <a:latin typeface="Bookman Old Style" panose="02050604050505020204" pitchFamily="18" charset="0"/>
              </a:rPr>
              <a:t> Meeting legal and industry-specific requirements, especially in regulated sectors like finance, healthcare, and government.</a:t>
            </a:r>
            <a:br>
              <a:rPr lang="en-US" sz="2000" dirty="0">
                <a:latin typeface="Bookman Old Style" panose="02050604050505020204" pitchFamily="18" charset="0"/>
              </a:rPr>
            </a:br>
            <a:br>
              <a:rPr lang="en-US" sz="2000" dirty="0">
                <a:latin typeface="Bookman Old Style" panose="02050604050505020204" pitchFamily="18" charset="0"/>
              </a:rPr>
            </a:br>
            <a:r>
              <a:rPr lang="en-US" sz="2000" b="1" dirty="0">
                <a:latin typeface="Bookman Old Style" panose="02050604050505020204" pitchFamily="18" charset="0"/>
              </a:rPr>
              <a:t>Preventing Fraud:</a:t>
            </a:r>
            <a:r>
              <a:rPr lang="en-US" sz="2000" dirty="0">
                <a:latin typeface="Bookman Old Style" panose="02050604050505020204" pitchFamily="18" charset="0"/>
              </a:rPr>
              <a:t> Avoiding costly hiring mistakes, employee theft, or embezzlement.</a:t>
            </a:r>
            <a:br>
              <a:rPr lang="en-US" sz="2000" dirty="0">
                <a:latin typeface="Bookman Old Style" panose="02050604050505020204" pitchFamily="18" charset="0"/>
              </a:rPr>
            </a:br>
            <a:br>
              <a:rPr lang="en-US" sz="2000" dirty="0">
                <a:latin typeface="Bookman Old Style" panose="02050604050505020204" pitchFamily="18" charset="0"/>
              </a:rPr>
            </a:br>
            <a:endParaRPr lang="en-US" sz="1200" dirty="0">
              <a:latin typeface="Bookman Old Style" panose="02050604050505020204" pitchFamily="18" charset="0"/>
            </a:endParaRPr>
          </a:p>
        </p:txBody>
      </p:sp>
    </p:spTree>
    <p:extLst>
      <p:ext uri="{BB962C8B-B14F-4D97-AF65-F5344CB8AC3E}">
        <p14:creationId xmlns:p14="http://schemas.microsoft.com/office/powerpoint/2010/main" val="6728495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95602435-15D7-4B1C-7196-2C2387520D8C}"/>
              </a:ext>
            </a:extLst>
          </p:cNvPr>
          <p:cNvSpPr>
            <a:spLocks noGrp="1"/>
          </p:cNvSpPr>
          <p:nvPr>
            <p:ph type="subTitle" idx="1"/>
          </p:nvPr>
        </p:nvSpPr>
        <p:spPr>
          <a:xfrm>
            <a:off x="0" y="0"/>
            <a:ext cx="12192000" cy="6858000"/>
          </a:xfrm>
        </p:spPr>
        <p:txBody>
          <a:bodyPr>
            <a:normAutofit fontScale="92500" lnSpcReduction="20000"/>
          </a:bodyPr>
          <a:lstStyle/>
          <a:p>
            <a:endParaRPr lang="en-US" b="1" dirty="0">
              <a:latin typeface="Bookman Old Style" panose="02050604050505020204" pitchFamily="18" charset="0"/>
            </a:endParaRPr>
          </a:p>
          <a:p>
            <a:endParaRPr lang="en-US" b="1" dirty="0">
              <a:latin typeface="Bookman Old Style" panose="02050604050505020204" pitchFamily="18" charset="0"/>
            </a:endParaRPr>
          </a:p>
          <a:p>
            <a:r>
              <a:rPr lang="en-US" sz="2600" b="1" dirty="0">
                <a:latin typeface="Bookman Old Style" panose="02050604050505020204" pitchFamily="18" charset="0"/>
              </a:rPr>
              <a:t>Key Types of Background Checks</a:t>
            </a:r>
            <a:br>
              <a:rPr lang="en-US" sz="2600" b="1" dirty="0">
                <a:latin typeface="Bookman Old Style" panose="02050604050505020204" pitchFamily="18" charset="0"/>
              </a:rPr>
            </a:br>
            <a:r>
              <a:rPr lang="en-US" sz="2600" dirty="0">
                <a:latin typeface="Bookman Old Style" panose="02050604050505020204" pitchFamily="18" charset="0"/>
              </a:rPr>
              <a:t>Background checks are tailored based on the job role and industry, but generally involve the following components:</a:t>
            </a:r>
            <a:br>
              <a:rPr lang="en-US" sz="2600" dirty="0">
                <a:latin typeface="Bookman Old Style" panose="02050604050505020204" pitchFamily="18" charset="0"/>
              </a:rPr>
            </a:br>
            <a:br>
              <a:rPr lang="en-US" sz="2600" dirty="0">
                <a:latin typeface="Bookman Old Style" panose="02050604050505020204" pitchFamily="18" charset="0"/>
              </a:rPr>
            </a:br>
            <a:r>
              <a:rPr lang="en-US" sz="2600" b="1" dirty="0">
                <a:latin typeface="Bookman Old Style" panose="02050604050505020204" pitchFamily="18" charset="0"/>
              </a:rPr>
              <a:t>Identity Verification:</a:t>
            </a:r>
            <a:br>
              <a:rPr lang="en-US" sz="2600" dirty="0">
                <a:latin typeface="Bookman Old Style" panose="02050604050505020204" pitchFamily="18" charset="0"/>
              </a:rPr>
            </a:br>
            <a:r>
              <a:rPr lang="en-US" sz="2600" dirty="0">
                <a:latin typeface="Bookman Old Style" panose="02050604050505020204" pitchFamily="18" charset="0"/>
              </a:rPr>
              <a:t>Confirms the candidate's legal identity using documents like a government ID (e.g., Aadhaar, Passport) and checks against national watchlists.</a:t>
            </a:r>
            <a:br>
              <a:rPr lang="en-US" sz="2600" dirty="0">
                <a:latin typeface="Bookman Old Style" panose="02050604050505020204" pitchFamily="18" charset="0"/>
              </a:rPr>
            </a:br>
            <a:br>
              <a:rPr lang="en-US" sz="2600" dirty="0">
                <a:latin typeface="Bookman Old Style" panose="02050604050505020204" pitchFamily="18" charset="0"/>
              </a:rPr>
            </a:br>
            <a:r>
              <a:rPr lang="en-US" sz="2600" b="1" dirty="0">
                <a:latin typeface="Bookman Old Style" panose="02050604050505020204" pitchFamily="18" charset="0"/>
              </a:rPr>
              <a:t>Address Verification:</a:t>
            </a:r>
            <a:r>
              <a:rPr lang="en-US" sz="2600" dirty="0">
                <a:latin typeface="Bookman Old Style" panose="02050604050505020204" pitchFamily="18" charset="0"/>
              </a:rPr>
              <a:t> Confirms current and/or permanent residential addresses.</a:t>
            </a:r>
          </a:p>
          <a:p>
            <a:r>
              <a:rPr lang="en-US" sz="2600" b="1" dirty="0">
                <a:latin typeface="Bookman Old Style" panose="02050604050505020204" pitchFamily="18" charset="0"/>
              </a:rPr>
              <a:t>Employment History Verification:</a:t>
            </a:r>
            <a:br>
              <a:rPr lang="en-US" sz="2600" dirty="0">
                <a:latin typeface="Bookman Old Style" panose="02050604050505020204" pitchFamily="18" charset="0"/>
              </a:rPr>
            </a:br>
            <a:r>
              <a:rPr lang="en-US" sz="2600" dirty="0">
                <a:latin typeface="Bookman Old Style" panose="02050604050505020204" pitchFamily="18" charset="0"/>
              </a:rPr>
              <a:t>Contacting previous employers (often HR departments) to confirm job titles, dates of employment, and sometimes the reason for leaving or overall work performance.</a:t>
            </a:r>
          </a:p>
          <a:p>
            <a:br>
              <a:rPr lang="en-US" sz="2600" dirty="0">
                <a:latin typeface="Bookman Old Style" panose="02050604050505020204" pitchFamily="18" charset="0"/>
              </a:rPr>
            </a:br>
            <a:r>
              <a:rPr lang="en-US" sz="2600" b="1" dirty="0">
                <a:latin typeface="Bookman Old Style" panose="02050604050505020204" pitchFamily="18" charset="0"/>
              </a:rPr>
              <a:t>Educational Verification:</a:t>
            </a:r>
            <a:br>
              <a:rPr lang="en-US" sz="2600" dirty="0">
                <a:latin typeface="Bookman Old Style" panose="02050604050505020204" pitchFamily="18" charset="0"/>
              </a:rPr>
            </a:br>
            <a:r>
              <a:rPr lang="en-US" sz="2600" dirty="0">
                <a:latin typeface="Bookman Old Style" panose="02050604050505020204" pitchFamily="18" charset="0"/>
              </a:rPr>
              <a:t>Contacting schools, colleges, and universities to verify the degrees, certifications, and dates of attendance listed by the candidate. This is crucial for roles requiring specialized qualifications.</a:t>
            </a:r>
            <a:br>
              <a:rPr lang="en-US" sz="2600" dirty="0">
                <a:latin typeface="Bookman Old Style" panose="02050604050505020204" pitchFamily="18" charset="0"/>
              </a:rPr>
            </a:br>
            <a:br>
              <a:rPr lang="en-US" dirty="0">
                <a:latin typeface="Bookman Old Style" panose="02050604050505020204" pitchFamily="18" charset="0"/>
              </a:rPr>
            </a:br>
            <a:endParaRPr lang="en-US" dirty="0"/>
          </a:p>
        </p:txBody>
      </p:sp>
    </p:spTree>
    <p:extLst>
      <p:ext uri="{BB962C8B-B14F-4D97-AF65-F5344CB8AC3E}">
        <p14:creationId xmlns:p14="http://schemas.microsoft.com/office/powerpoint/2010/main" val="39043723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B138E-E7C1-CF09-9F47-6A2179A723DE}"/>
              </a:ext>
            </a:extLst>
          </p:cNvPr>
          <p:cNvSpPr>
            <a:spLocks noGrp="1"/>
          </p:cNvSpPr>
          <p:nvPr>
            <p:ph type="title"/>
          </p:nvPr>
        </p:nvSpPr>
        <p:spPr>
          <a:xfrm>
            <a:off x="0" y="0"/>
            <a:ext cx="12192000" cy="6858000"/>
          </a:xfrm>
        </p:spPr>
        <p:txBody>
          <a:bodyPr>
            <a:normAutofit/>
          </a:bodyPr>
          <a:lstStyle/>
          <a:p>
            <a:pPr algn="ctr"/>
            <a:r>
              <a:rPr lang="en-US" sz="2200" b="1" dirty="0">
                <a:latin typeface="Bookman Old Style" panose="02050604050505020204" pitchFamily="18" charset="0"/>
              </a:rPr>
              <a:t>Criminal Records Check:</a:t>
            </a:r>
            <a:br>
              <a:rPr lang="en-US" sz="2200" dirty="0">
                <a:latin typeface="Bookman Old Style" panose="02050604050505020204" pitchFamily="18" charset="0"/>
              </a:rPr>
            </a:br>
            <a:r>
              <a:rPr lang="en-US" sz="2200" dirty="0">
                <a:latin typeface="Bookman Old Style" panose="02050604050505020204" pitchFamily="18" charset="0"/>
              </a:rPr>
              <a:t>Searching local, state, and national public records databases for any history of convictions, arrests, or pending criminal cases.</a:t>
            </a:r>
            <a:br>
              <a:rPr lang="en-US" sz="2200" dirty="0">
                <a:latin typeface="Bookman Old Style" panose="02050604050505020204" pitchFamily="18" charset="0"/>
              </a:rPr>
            </a:br>
            <a:br>
              <a:rPr lang="en-US" sz="2200" dirty="0">
                <a:latin typeface="Bookman Old Style" panose="02050604050505020204" pitchFamily="18" charset="0"/>
              </a:rPr>
            </a:br>
            <a:r>
              <a:rPr lang="en-US" sz="2200" b="1" dirty="0">
                <a:latin typeface="Bookman Old Style" panose="02050604050505020204" pitchFamily="18" charset="0"/>
                <a:ea typeface="+mn-ea"/>
                <a:cs typeface="+mn-cs"/>
              </a:rPr>
              <a:t>Professional Licenses &amp; Certifications:</a:t>
            </a:r>
            <a:br>
              <a:rPr lang="en-US" sz="2200" dirty="0">
                <a:latin typeface="Bookman Old Style" panose="02050604050505020204" pitchFamily="18" charset="0"/>
              </a:rPr>
            </a:br>
            <a:r>
              <a:rPr lang="en-US" sz="2200" dirty="0">
                <a:latin typeface="Bookman Old Style" panose="02050604050505020204" pitchFamily="18" charset="0"/>
              </a:rPr>
              <a:t>Verifying that professional licenses (e.g., for doctors, lawyers, engineers) are valid, current, and have no sanctions or disciplinary actions against them.</a:t>
            </a:r>
            <a:br>
              <a:rPr lang="en-US" sz="2200" dirty="0">
                <a:latin typeface="Bookman Old Style" panose="02050604050505020204" pitchFamily="18" charset="0"/>
              </a:rPr>
            </a:br>
            <a:br>
              <a:rPr lang="en-US" sz="2200" dirty="0">
                <a:latin typeface="Bookman Old Style" panose="02050604050505020204" pitchFamily="18" charset="0"/>
              </a:rPr>
            </a:br>
            <a:r>
              <a:rPr lang="en-US" sz="2200" b="1" dirty="0">
                <a:latin typeface="Bookman Old Style" panose="02050604050505020204" pitchFamily="18" charset="0"/>
                <a:ea typeface="+mn-ea"/>
                <a:cs typeface="+mn-cs"/>
              </a:rPr>
              <a:t>Reference Checks:</a:t>
            </a:r>
            <a:br>
              <a:rPr lang="en-US" sz="2200" dirty="0">
                <a:latin typeface="Bookman Old Style" panose="02050604050505020204" pitchFamily="18" charset="0"/>
              </a:rPr>
            </a:br>
            <a:r>
              <a:rPr lang="en-US" sz="2200" dirty="0">
                <a:latin typeface="Bookman Old Style" panose="02050604050505020204" pitchFamily="18" charset="0"/>
              </a:rPr>
              <a:t>Contacting the professional references provided by the candidate to gain subjective insights into their work ethic, competence, and behavior.</a:t>
            </a:r>
            <a:br>
              <a:rPr lang="en-US" sz="2200" dirty="0">
                <a:latin typeface="Bookman Old Style" panose="02050604050505020204" pitchFamily="18" charset="0"/>
              </a:rPr>
            </a:br>
            <a:br>
              <a:rPr lang="en-US" sz="2200" dirty="0">
                <a:latin typeface="Bookman Old Style" panose="02050604050505020204" pitchFamily="18" charset="0"/>
              </a:rPr>
            </a:br>
            <a:r>
              <a:rPr lang="en-US" sz="2200" b="1" dirty="0">
                <a:latin typeface="Bookman Old Style" panose="02050604050505020204" pitchFamily="18" charset="0"/>
                <a:ea typeface="+mn-ea"/>
                <a:cs typeface="+mn-cs"/>
              </a:rPr>
              <a:t>The Verification Process (General Steps)</a:t>
            </a:r>
            <a:br>
              <a:rPr lang="en-US" sz="2200" dirty="0">
                <a:latin typeface="Bookman Old Style" panose="02050604050505020204" pitchFamily="18" charset="0"/>
              </a:rPr>
            </a:br>
            <a:r>
              <a:rPr lang="en-US" sz="2200" dirty="0">
                <a:latin typeface="Bookman Old Style" panose="02050604050505020204" pitchFamily="18" charset="0"/>
              </a:rPr>
              <a:t>Conditional Offer: The company usually extends a conditional job offer first, contingent upon the successful </a:t>
            </a:r>
            <a:r>
              <a:rPr lang="en-US" sz="2000" b="1" dirty="0">
                <a:latin typeface="Bookman Old Style" panose="02050604050505020204" pitchFamily="18" charset="0"/>
              </a:rPr>
              <a:t>completion</a:t>
            </a:r>
            <a:r>
              <a:rPr lang="en-US" sz="2200" dirty="0">
                <a:latin typeface="Bookman Old Style" panose="02050604050505020204" pitchFamily="18" charset="0"/>
              </a:rPr>
              <a:t> of the background check.</a:t>
            </a:r>
            <a:br>
              <a:rPr lang="en-US" sz="2200" dirty="0">
                <a:latin typeface="Bookman Old Style" panose="02050604050505020204" pitchFamily="18" charset="0"/>
              </a:rPr>
            </a:br>
            <a:br>
              <a:rPr lang="en-US" sz="2200" dirty="0">
                <a:latin typeface="Bookman Old Style" panose="02050604050505020204" pitchFamily="18" charset="0"/>
              </a:rPr>
            </a:br>
            <a:r>
              <a:rPr lang="en-US" sz="2200" dirty="0">
                <a:latin typeface="Bookman Old Style" panose="02050604050505020204" pitchFamily="18" charset="0"/>
              </a:rPr>
              <a:t>Reporting and Review: A detailed report is compiled. The employer reviews the findings against their internal hiring criteria.</a:t>
            </a:r>
            <a:br>
              <a:rPr lang="en-US" sz="1300" dirty="0">
                <a:latin typeface="Bookman Old Style" panose="02050604050505020204" pitchFamily="18" charset="0"/>
              </a:rPr>
            </a:br>
            <a:endParaRPr lang="en-US" sz="1300" dirty="0">
              <a:latin typeface="Bookman Old Style" panose="02050604050505020204" pitchFamily="18" charset="0"/>
            </a:endParaRPr>
          </a:p>
        </p:txBody>
      </p:sp>
    </p:spTree>
    <p:extLst>
      <p:ext uri="{BB962C8B-B14F-4D97-AF65-F5344CB8AC3E}">
        <p14:creationId xmlns:p14="http://schemas.microsoft.com/office/powerpoint/2010/main" val="29014004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B9AA3-3D3E-EA08-698B-A995ADA8D0F1}"/>
              </a:ext>
            </a:extLst>
          </p:cNvPr>
          <p:cNvSpPr>
            <a:spLocks noGrp="1"/>
          </p:cNvSpPr>
          <p:nvPr>
            <p:ph type="ctrTitle"/>
          </p:nvPr>
        </p:nvSpPr>
        <p:spPr>
          <a:xfrm>
            <a:off x="0" y="0"/>
            <a:ext cx="12192000" cy="6857999"/>
          </a:xfrm>
        </p:spPr>
        <p:txBody>
          <a:bodyPr>
            <a:normAutofit/>
          </a:bodyPr>
          <a:lstStyle/>
          <a:p>
            <a:br>
              <a:rPr lang="en-US" sz="2200" dirty="0"/>
            </a:br>
            <a:r>
              <a:rPr lang="en-US" sz="2000" u="sng" dirty="0">
                <a:latin typeface="Arial Black" panose="020B0A04020102020204" pitchFamily="34" charset="0"/>
              </a:rPr>
              <a:t>Loan Defaulters &amp; Recovery Support:</a:t>
            </a:r>
            <a:br>
              <a:rPr lang="en-US" sz="2000" u="sng" dirty="0">
                <a:latin typeface="Arial Black" panose="020B0A04020102020204" pitchFamily="34" charset="0"/>
              </a:rPr>
            </a:br>
            <a:br>
              <a:rPr lang="en-US" sz="2200" dirty="0"/>
            </a:br>
            <a:r>
              <a:rPr lang="en-US" sz="2400" dirty="0"/>
              <a:t>We handle cases related to tracing loan defaulters who are currently untraceable and are not paying their loan EMIs. Our team can investigate, trace, and submit a detailed report to the concerned bank with verified information regarding the defaulter’s whereabouts and status.</a:t>
            </a:r>
            <a:br>
              <a:rPr lang="en-US" sz="2400" dirty="0"/>
            </a:br>
            <a:r>
              <a:rPr lang="en-US" sz="2400" dirty="0"/>
              <a:t>Our professional fees for tracing services are charged as per the scope and complexity of the assignment.</a:t>
            </a:r>
            <a:br>
              <a:rPr lang="en-US" sz="2400" dirty="0"/>
            </a:br>
            <a:br>
              <a:rPr lang="en-US" sz="2400" dirty="0"/>
            </a:br>
            <a:r>
              <a:rPr lang="en-US" sz="2400" dirty="0"/>
              <a:t>In case the bank also requires assistance with recovery of funds, the approach and execution process would differ and will be handled on a case-to-case basis depending upon the nature of the matter.</a:t>
            </a:r>
            <a:br>
              <a:rPr lang="en-US" sz="2400" dirty="0"/>
            </a:br>
            <a:br>
              <a:rPr lang="en-US" sz="2400" dirty="0"/>
            </a:br>
            <a:r>
              <a:rPr lang="en-US" sz="2400" dirty="0"/>
              <a:t>For tracing-only assignments, we charge an advance of 50% of the mutually agreed professional fees at the time of assignment confirmation.</a:t>
            </a:r>
            <a:br>
              <a:rPr lang="en-US" sz="2400" dirty="0"/>
            </a:br>
            <a:br>
              <a:rPr lang="en-US" sz="2400" dirty="0"/>
            </a:br>
            <a:r>
              <a:rPr lang="en-US" sz="2400" dirty="0"/>
              <a:t>Kindly let us know your decision and the expected commencement date so that we may allocate and brief our team accordingly.</a:t>
            </a:r>
            <a:br>
              <a:rPr lang="en-US" dirty="0"/>
            </a:br>
            <a:endParaRPr lang="en-US" dirty="0"/>
          </a:p>
        </p:txBody>
      </p:sp>
    </p:spTree>
    <p:extLst>
      <p:ext uri="{BB962C8B-B14F-4D97-AF65-F5344CB8AC3E}">
        <p14:creationId xmlns:p14="http://schemas.microsoft.com/office/powerpoint/2010/main" val="34772366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FD7D8-28BC-131B-30A5-10B717498365}"/>
              </a:ext>
            </a:extLst>
          </p:cNvPr>
          <p:cNvSpPr>
            <a:spLocks noGrp="1"/>
          </p:cNvSpPr>
          <p:nvPr>
            <p:ph type="title"/>
          </p:nvPr>
        </p:nvSpPr>
        <p:spPr>
          <a:xfrm>
            <a:off x="177800" y="165101"/>
            <a:ext cx="11861800" cy="6515100"/>
          </a:xfrm>
        </p:spPr>
        <p:txBody>
          <a:bodyPr>
            <a:normAutofit/>
          </a:bodyPr>
          <a:lstStyle/>
          <a:p>
            <a:pPr algn="ctr"/>
            <a:r>
              <a:rPr lang="en-US" sz="2400" b="1" u="sng" dirty="0">
                <a:latin typeface="Bookman Old Style" panose="02050604050505020204" pitchFamily="18" charset="0"/>
              </a:rPr>
              <a:t>Our Applause &amp; Achievements:</a:t>
            </a:r>
            <a:br>
              <a:rPr lang="en-US" sz="2400" b="1" u="sng" dirty="0">
                <a:latin typeface="Bookman Old Style" panose="02050604050505020204" pitchFamily="18" charset="0"/>
              </a:rPr>
            </a:br>
            <a:br>
              <a:rPr lang="en-US" dirty="0"/>
            </a:br>
            <a:r>
              <a:rPr lang="en-US" sz="2400" dirty="0">
                <a:solidFill>
                  <a:srgbClr val="002060"/>
                </a:solidFill>
                <a:latin typeface="Bookman Old Style" panose="02050604050505020204" pitchFamily="18" charset="0"/>
              </a:rPr>
              <a:t>Radiant Detective Agency has earned strong appreciation from clients, legal professionals, and corporate partners for its commitment to excellence. Our work has been applauded for:</a:t>
            </a:r>
            <a:br>
              <a:rPr lang="en-US" sz="2400" dirty="0">
                <a:solidFill>
                  <a:srgbClr val="002060"/>
                </a:solidFill>
                <a:latin typeface="Bookman Old Style" panose="02050604050505020204" pitchFamily="18" charset="0"/>
              </a:rPr>
            </a:br>
            <a:br>
              <a:rPr lang="en-US" sz="2400" dirty="0">
                <a:solidFill>
                  <a:srgbClr val="002060"/>
                </a:solidFill>
                <a:latin typeface="Bookman Old Style" panose="02050604050505020204" pitchFamily="18" charset="0"/>
              </a:rPr>
            </a:br>
            <a:r>
              <a:rPr lang="en-US" sz="2400" i="1" dirty="0">
                <a:solidFill>
                  <a:srgbClr val="002060"/>
                </a:solidFill>
                <a:latin typeface="Bookman Old Style" panose="02050604050505020204" pitchFamily="18" charset="0"/>
              </a:rPr>
              <a:t> </a:t>
            </a:r>
            <a:r>
              <a:rPr lang="en-US" sz="2400" b="1" i="1" dirty="0">
                <a:solidFill>
                  <a:srgbClr val="002060"/>
                </a:solidFill>
                <a:latin typeface="Bookman Old Style" panose="02050604050505020204" pitchFamily="18" charset="0"/>
              </a:rPr>
              <a:t>High success rate in complex cases;</a:t>
            </a:r>
            <a:br>
              <a:rPr lang="en-US" sz="2400" b="1" i="1" dirty="0">
                <a:solidFill>
                  <a:srgbClr val="002060"/>
                </a:solidFill>
                <a:latin typeface="Bookman Old Style" panose="02050604050505020204" pitchFamily="18" charset="0"/>
              </a:rPr>
            </a:br>
            <a:br>
              <a:rPr lang="en-US" sz="2400" i="1" dirty="0">
                <a:solidFill>
                  <a:srgbClr val="002060"/>
                </a:solidFill>
                <a:latin typeface="Bookman Old Style" panose="02050604050505020204" pitchFamily="18" charset="0"/>
              </a:rPr>
            </a:br>
            <a:r>
              <a:rPr lang="en-US" sz="2400" i="1" dirty="0">
                <a:solidFill>
                  <a:srgbClr val="002060"/>
                </a:solidFill>
                <a:latin typeface="Bookman Old Style" panose="02050604050505020204" pitchFamily="18" charset="0"/>
              </a:rPr>
              <a:t> </a:t>
            </a:r>
            <a:r>
              <a:rPr lang="en-US" sz="2400" b="1" i="1" dirty="0">
                <a:solidFill>
                  <a:srgbClr val="002060"/>
                </a:solidFill>
                <a:latin typeface="Bookman Old Style" panose="02050604050505020204" pitchFamily="18" charset="0"/>
              </a:rPr>
              <a:t>Strict confidentiality and ethical practices;</a:t>
            </a:r>
            <a:br>
              <a:rPr lang="en-US" sz="2400" b="1" i="1" dirty="0">
                <a:solidFill>
                  <a:srgbClr val="002060"/>
                </a:solidFill>
                <a:latin typeface="Bookman Old Style" panose="02050604050505020204" pitchFamily="18" charset="0"/>
              </a:rPr>
            </a:br>
            <a:br>
              <a:rPr lang="en-US" sz="2400" i="1" dirty="0">
                <a:solidFill>
                  <a:srgbClr val="002060"/>
                </a:solidFill>
                <a:latin typeface="Bookman Old Style" panose="02050604050505020204" pitchFamily="18" charset="0"/>
              </a:rPr>
            </a:br>
            <a:r>
              <a:rPr lang="en-US" sz="2400" i="1" dirty="0">
                <a:solidFill>
                  <a:srgbClr val="002060"/>
                </a:solidFill>
                <a:latin typeface="Bookman Old Style" panose="02050604050505020204" pitchFamily="18" charset="0"/>
              </a:rPr>
              <a:t> </a:t>
            </a:r>
            <a:r>
              <a:rPr lang="en-US" sz="2400" b="1" i="1" dirty="0">
                <a:solidFill>
                  <a:srgbClr val="002060"/>
                </a:solidFill>
                <a:latin typeface="Bookman Old Style" panose="02050604050505020204" pitchFamily="18" charset="0"/>
              </a:rPr>
              <a:t>Timely and accurate reporting;</a:t>
            </a:r>
            <a:br>
              <a:rPr lang="en-US" sz="2400" b="1" i="1" dirty="0">
                <a:solidFill>
                  <a:srgbClr val="002060"/>
                </a:solidFill>
                <a:latin typeface="Bookman Old Style" panose="02050604050505020204" pitchFamily="18" charset="0"/>
              </a:rPr>
            </a:br>
            <a:br>
              <a:rPr lang="en-US" sz="2400" i="1" dirty="0">
                <a:solidFill>
                  <a:srgbClr val="002060"/>
                </a:solidFill>
                <a:latin typeface="Bookman Old Style" panose="02050604050505020204" pitchFamily="18" charset="0"/>
              </a:rPr>
            </a:br>
            <a:r>
              <a:rPr lang="en-US" sz="2400" i="1" dirty="0">
                <a:solidFill>
                  <a:srgbClr val="002060"/>
                </a:solidFill>
                <a:latin typeface="Bookman Old Style" panose="02050604050505020204" pitchFamily="18" charset="0"/>
              </a:rPr>
              <a:t> </a:t>
            </a:r>
            <a:r>
              <a:rPr lang="en-US" sz="2400" b="1" i="1" dirty="0">
                <a:solidFill>
                  <a:srgbClr val="002060"/>
                </a:solidFill>
                <a:latin typeface="Bookman Old Style" panose="02050604050505020204" pitchFamily="18" charset="0"/>
              </a:rPr>
              <a:t>Use of advanced tools and technology;</a:t>
            </a:r>
            <a:br>
              <a:rPr lang="en-US" sz="2400" b="1" i="1" dirty="0">
                <a:solidFill>
                  <a:srgbClr val="002060"/>
                </a:solidFill>
                <a:latin typeface="Bookman Old Style" panose="02050604050505020204" pitchFamily="18" charset="0"/>
              </a:rPr>
            </a:br>
            <a:br>
              <a:rPr lang="en-US" sz="2400" i="1" dirty="0">
                <a:solidFill>
                  <a:srgbClr val="002060"/>
                </a:solidFill>
                <a:latin typeface="Bookman Old Style" panose="02050604050505020204" pitchFamily="18" charset="0"/>
              </a:rPr>
            </a:br>
            <a:r>
              <a:rPr lang="en-US" sz="2400" i="1" dirty="0">
                <a:solidFill>
                  <a:srgbClr val="002060"/>
                </a:solidFill>
                <a:latin typeface="Bookman Old Style" panose="02050604050505020204" pitchFamily="18" charset="0"/>
              </a:rPr>
              <a:t> </a:t>
            </a:r>
            <a:r>
              <a:rPr lang="en-US" sz="2400" b="1" i="1" dirty="0">
                <a:solidFill>
                  <a:srgbClr val="002060"/>
                </a:solidFill>
                <a:latin typeface="Bookman Old Style" panose="02050604050505020204" pitchFamily="18" charset="0"/>
              </a:rPr>
              <a:t>Professionalism and transparent communication.</a:t>
            </a:r>
            <a:br>
              <a:rPr lang="en-US" i="1" dirty="0">
                <a:latin typeface="Bookman Old Style" panose="02050604050505020204" pitchFamily="18" charset="0"/>
              </a:rPr>
            </a:br>
            <a:endParaRPr lang="en-US" i="1" dirty="0">
              <a:latin typeface="Bookman Old Style" panose="02050604050505020204" pitchFamily="18" charset="0"/>
            </a:endParaRPr>
          </a:p>
        </p:txBody>
      </p:sp>
    </p:spTree>
    <p:extLst>
      <p:ext uri="{BB962C8B-B14F-4D97-AF65-F5344CB8AC3E}">
        <p14:creationId xmlns:p14="http://schemas.microsoft.com/office/powerpoint/2010/main" val="22235746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E60693-001D-6ECA-4A51-5E126E44F5B6}"/>
              </a:ext>
            </a:extLst>
          </p:cNvPr>
          <p:cNvSpPr>
            <a:spLocks noGrp="1"/>
          </p:cNvSpPr>
          <p:nvPr>
            <p:ph type="title"/>
          </p:nvPr>
        </p:nvSpPr>
        <p:spPr>
          <a:xfrm>
            <a:off x="190500" y="177801"/>
            <a:ext cx="11798300" cy="6502400"/>
          </a:xfrm>
        </p:spPr>
        <p:txBody>
          <a:bodyPr/>
          <a:lstStyle/>
          <a:p>
            <a:pPr algn="ctr"/>
            <a:r>
              <a:rPr lang="en-US" dirty="0">
                <a:solidFill>
                  <a:srgbClr val="002060"/>
                </a:solidFill>
                <a:latin typeface="Bookman Old Style" panose="02050604050505020204" pitchFamily="18" charset="0"/>
              </a:rPr>
              <a:t>This </a:t>
            </a:r>
            <a:r>
              <a:rPr lang="en-US" u="sng" dirty="0">
                <a:solidFill>
                  <a:srgbClr val="002060"/>
                </a:solidFill>
                <a:latin typeface="Bookman Old Style" panose="02050604050505020204" pitchFamily="18" charset="0"/>
              </a:rPr>
              <a:t>consistent trust </a:t>
            </a:r>
            <a:r>
              <a:rPr lang="en-US" dirty="0">
                <a:solidFill>
                  <a:srgbClr val="002060"/>
                </a:solidFill>
                <a:latin typeface="Bookman Old Style" panose="02050604050505020204" pitchFamily="18" charset="0"/>
              </a:rPr>
              <a:t>from clients is our greatest recognition. Every solved case, every satisfied client, and every partnership built on integrity motivates us to continue delivering exemplary investigative services.</a:t>
            </a:r>
            <a:br>
              <a:rPr lang="en-US" dirty="0"/>
            </a:br>
            <a:endParaRPr lang="en-US" dirty="0"/>
          </a:p>
        </p:txBody>
      </p:sp>
    </p:spTree>
    <p:extLst>
      <p:ext uri="{BB962C8B-B14F-4D97-AF65-F5344CB8AC3E}">
        <p14:creationId xmlns:p14="http://schemas.microsoft.com/office/powerpoint/2010/main" val="14617283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6BE6B-6044-76E8-9031-1C82ED939E1F}"/>
              </a:ext>
            </a:extLst>
          </p:cNvPr>
          <p:cNvSpPr>
            <a:spLocks noGrp="1"/>
          </p:cNvSpPr>
          <p:nvPr>
            <p:ph type="ctrTitle"/>
          </p:nvPr>
        </p:nvSpPr>
        <p:spPr>
          <a:xfrm>
            <a:off x="0" y="0"/>
            <a:ext cx="12192000" cy="6857999"/>
          </a:xfrm>
        </p:spPr>
        <p:txBody>
          <a:bodyPr>
            <a:normAutofit fontScale="90000"/>
          </a:bodyPr>
          <a:lstStyle/>
          <a:p>
            <a:r>
              <a:rPr lang="en-US" dirty="0">
                <a:latin typeface="Aharoni" panose="02010803020104030203" pitchFamily="2" charset="-79"/>
                <a:cs typeface="Aharoni" panose="02010803020104030203" pitchFamily="2" charset="-79"/>
              </a:rPr>
              <a:t>For any queries</a:t>
            </a:r>
            <a:br>
              <a:rPr lang="en-US" dirty="0">
                <a:latin typeface="Aharoni" panose="02010803020104030203" pitchFamily="2" charset="-79"/>
                <a:cs typeface="Aharoni" panose="02010803020104030203" pitchFamily="2" charset="-79"/>
              </a:rPr>
            </a:br>
            <a:r>
              <a:rPr lang="en-US" u="sng" dirty="0">
                <a:latin typeface="Aharoni" panose="02010803020104030203" pitchFamily="2" charset="-79"/>
                <a:cs typeface="Aharoni" panose="02010803020104030203" pitchFamily="2" charset="-79"/>
              </a:rPr>
              <a:t>Contact: </a:t>
            </a:r>
            <a:br>
              <a:rPr lang="en-US" u="sng" dirty="0">
                <a:latin typeface="Aharoni" panose="02010803020104030203" pitchFamily="2" charset="-79"/>
                <a:cs typeface="Aharoni" panose="02010803020104030203" pitchFamily="2" charset="-79"/>
              </a:rPr>
            </a:br>
            <a:br>
              <a:rPr lang="en-US" dirty="0"/>
            </a:br>
            <a:r>
              <a:rPr lang="en-US" dirty="0"/>
              <a:t> </a:t>
            </a:r>
            <a:r>
              <a:rPr lang="en-US" sz="6700" u="sng" dirty="0">
                <a:latin typeface="Algerian" panose="04020705040A02060702" pitchFamily="82" charset="0"/>
              </a:rPr>
              <a:t>Ajay Rastogi</a:t>
            </a:r>
            <a:br>
              <a:rPr lang="en-US" dirty="0">
                <a:latin typeface="Algerian" panose="04020705040A02060702" pitchFamily="82" charset="0"/>
              </a:rPr>
            </a:br>
            <a:br>
              <a:rPr lang="en-US" dirty="0"/>
            </a:br>
            <a:r>
              <a:rPr lang="en-US" dirty="0"/>
              <a:t>☎      </a:t>
            </a:r>
            <a:r>
              <a:rPr lang="en-US" dirty="0">
                <a:latin typeface="Britannic Bold" panose="020B0903060703020204" pitchFamily="34" charset="0"/>
                <a:ea typeface="Microsoft Sans Serif" panose="020B0604020202020204" pitchFamily="34" charset="0"/>
                <a:cs typeface="Microsoft Sans Serif" panose="020B0604020202020204" pitchFamily="34" charset="0"/>
              </a:rPr>
              <a:t>+91 9958231007</a:t>
            </a:r>
            <a:br>
              <a:rPr lang="en-US" dirty="0"/>
            </a:br>
            <a:br>
              <a:rPr lang="en-US" dirty="0"/>
            </a:br>
            <a:r>
              <a:rPr lang="en-US" dirty="0"/>
              <a:t> </a:t>
            </a:r>
            <a:r>
              <a:rPr lang="en-US" sz="5300" b="1" dirty="0">
                <a:hlinkClick r:id="rId3"/>
              </a:rPr>
              <a:t>radiantdetectiveinvestigations@gmail.com</a:t>
            </a:r>
            <a:br>
              <a:rPr lang="en-US" sz="5300" b="1" dirty="0"/>
            </a:br>
            <a:endParaRPr lang="en-US" sz="5300" b="1" dirty="0"/>
          </a:p>
        </p:txBody>
      </p:sp>
      <p:pic>
        <p:nvPicPr>
          <p:cNvPr id="6" name="Picture 5">
            <a:extLst>
              <a:ext uri="{FF2B5EF4-FFF2-40B4-BE49-F238E27FC236}">
                <a16:creationId xmlns:a16="http://schemas.microsoft.com/office/drawing/2014/main" id="{F9FFE3AB-98AA-89C1-018D-86CDE48E7AAB}"/>
              </a:ext>
            </a:extLst>
          </p:cNvPr>
          <p:cNvPicPr>
            <a:picLocks noChangeAspect="1"/>
          </p:cNvPicPr>
          <p:nvPr/>
        </p:nvPicPr>
        <p:blipFill>
          <a:blip r:embed="rId4"/>
          <a:stretch>
            <a:fillRect/>
          </a:stretch>
        </p:blipFill>
        <p:spPr>
          <a:xfrm>
            <a:off x="3382664" y="3905857"/>
            <a:ext cx="691135" cy="706581"/>
          </a:xfrm>
          <a:prstGeom prst="rect">
            <a:avLst/>
          </a:prstGeom>
        </p:spPr>
      </p:pic>
    </p:spTree>
    <p:extLst>
      <p:ext uri="{BB962C8B-B14F-4D97-AF65-F5344CB8AC3E}">
        <p14:creationId xmlns:p14="http://schemas.microsoft.com/office/powerpoint/2010/main" val="12970092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121</TotalTime>
  <Words>1836</Words>
  <Application>Microsoft Office PowerPoint</Application>
  <PresentationFormat>Widescreen</PresentationFormat>
  <Paragraphs>32</Paragraphs>
  <Slides>16</Slides>
  <Notes>3</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PowerPoint Presentation</vt:lpstr>
      <vt:lpstr>PowerPoint Presentation</vt:lpstr>
      <vt:lpstr>   About Radiant Detective Agency:       Radiant Detective Agency stands as a trusted name in the field of private investigation, known for its professionalism, precision, and unwavering commitment to truth. Over the years, right from day one in 2006 we have built a reputation for delivering clear, actionable results through ethical investigation methods and advanced surveillance techniques.  </vt:lpstr>
      <vt:lpstr>   What We Do:      Radiant Detective Agency offers a comprehensive range of investigative services designed to bring clarity, confidence, and security to individuals as well as businesses:      </vt:lpstr>
      <vt:lpstr>a) Pre- &amp; Post-Matrimonial Investigations  b) Corporate &amp; Employee Background Checks  c) Surveillance &amp; Evidence Collection  d) Missing Person Tracing  e) Fraud, Cheating &amp; Financial Investigation  f) Cyber Investigation &amp; Digital Footprint Analysis  g) Tracing Loan Defaulters &amp; Recovery Support </vt:lpstr>
      <vt:lpstr>Pre- &amp; Post-Matrimonial Investigations:  Matrimonial investigations are professional services used to verify the claims, character, and activities of a prospective partner or a current spouse. These are broadly categorized into Pre-Matrimonial (preventative) &amp; Post-Matrimonial (corrective) investigations.  1. Pre-Matrimonial Investigations The goal here is to establish a foundation of trust before "tying the knot." It is especially common in arranged marriages or relationships initiated through matrimonial websites. Key Focus Areas: Background Verification: Verifying education, current employment, and actual salary/position. Family Reputation: Checking the social and economic standing of the family in their neighborhood or community. Character &amp; Lifestyle: Investigating habits like smoking, drinking, drug use, or gambling, as well as checking for "hidden" past or current relationships. Financial Health: Assessing assets, liabilities (loans/debts), and the general financial stability of the individual and family. Medical History: Uncovering chronic illnesses or mental health issues that might have been concealed. Criminal Records: Searching for any past or pending legal cases/FIRs.  </vt:lpstr>
      <vt:lpstr>2. Post-Matrimonial Investigations These are typically conducted when trust has already been compromised within a marriage. They are often used as evidence for legal proceedings like divorce or alimony cases. Key Focus Areas: Infidelity (Adultery): Discreet surveillance to catch a cheating spouse, often involving photographic or video evidence. Hidden Assets: Finding secret bank accounts, properties, or businesses, particularly during divorce settlements. Abuse or Harassment: Documenting evidence of domestic violence or dowry-related harassment. Child Custody Support: Gathering evidence of a spouse’s lifestyle or behavior to prove they are unfit for custody. Suspicious Activities: Investigating sudden changes in routine, unexplained work hours, or secretive phone behavior.  How Investigations are Conducted We use a mix of "on-ground" work and digital tools: Surveillance: Physical shadowing (tailing) the subject to document their daily routine and meetings. Digital Footprints: Checking social media, online activities, and public records. Discreet Inquiries: Interviewing neighbors, colleagues, or "friends of friends" without revealing our or client/’s true identity. Sting Operations: In complex cases, we may use undercover tactics to reveal the truth. </vt:lpstr>
      <vt:lpstr>  Corporate &amp; Employee Background Checks:  Corporate and employee background checks are a critical part of the hiring process and corporate due diligence. They involve verifying the accuracy of information provided by job candidates or assessing the integrity and reputation of a business, supplier, or partner. 1. Employee Background Checks (Pre-Employment Screening) These checks are performed on prospective employees to mitigate risks like workplace violence, fraud, theft, and negligent hiring claims. The scope of the check usually depends on the job's seniority and sensitivity.  Key Verification Areas: Identity and Address Verification: Confirming the candidate's legal identity and current/previous residential addresses. Educational Credentials: Contacting institutions to verify degrees, diplomas, and dates of attendance to prevent "resume padding.“ Employment History: Confirming past job titles, dates of employment, and, sometimes, reasons for leaving. This helps identify undisclosed gaps in employment. Criminal Records: Searching national, state, and local court records for convictions.  Reference Checks: Contacting provided references to gain insight into the candidate's work ethic and character.    </vt:lpstr>
      <vt:lpstr>2. Corporate Background Checks (Due Diligence)  These checks focus on the integrity, stability, and reputation of a company or its key executives, often before mergers, acquisitions, or significant investments.  Key Verification Areas: Litigation History: Reviewing past and pending lawsuits involving the company, its subsidiaries, or its directors/officers.  Regulatory Compliance: Checking for regulatory fines, penalties, or violations issued by governing bodies.  Financial Stability: Analyzing public financial statements.  Reputation and Media Check: Searching public records, news articles, and social media for negative press, ethical issues, or controversies.  Corporate Structure and Ownership: Verifying the legal structure, main shareholders, and beneficial ownership to identify potential conflicts of interest.  Key Executive Integrity: Comprehensive background checks on the company's founders, CEOs, and senior management, similar to high-level employee screening (criminal, financial, professional history).</vt:lpstr>
      <vt:lpstr>Surveillance &amp; Evidence Collection: Surveillance and evidence collection are the "bread and butter" of private and professional investigations. These processes involve the discreet observation of people, places, or activities to gather factual, undeniable proof that can be used in personal, corporate, or legal settings.  Objectives of Corporate &amp; Employee BGC The primary goal of background checks is risk mitigation and ensuring a trustworthy workforce. Verifying Credentials: Confirming the accuracy of information provided on a resume or job application (e.g., employment history, educational degrees).  Workplace Safety: Identifying any history of criminal activity, violence, or substance abuse to protect existing employees and customers.  Financial Integrity: Checking credit history or financial misconduct for roles that involve handling money or sensitive financial data (e.g., accounting, executive positions).  Regulatory Compliance: Meeting legal and industry-specific requirements, especially in regulated sectors like finance, healthcare, and government.  Preventing Fraud: Avoiding costly hiring mistakes, employee theft, or embezzlement.  </vt:lpstr>
      <vt:lpstr>PowerPoint Presentation</vt:lpstr>
      <vt:lpstr>Criminal Records Check: Searching local, state, and national public records databases for any history of convictions, arrests, or pending criminal cases.  Professional Licenses &amp; Certifications: Verifying that professional licenses (e.g., for doctors, lawyers, engineers) are valid, current, and have no sanctions or disciplinary actions against them.  Reference Checks: Contacting the professional references provided by the candidate to gain subjective insights into their work ethic, competence, and behavior.  The Verification Process (General Steps) Conditional Offer: The company usually extends a conditional job offer first, contingent upon the successful completion of the background check.  Reporting and Review: A detailed report is compiled. The employer reviews the findings against their internal hiring criteria. </vt:lpstr>
      <vt:lpstr> Loan Defaulters &amp; Recovery Support:  We handle cases related to tracing loan defaulters who are currently untraceable and are not paying their loan EMIs. Our team can investigate, trace, and submit a detailed report to the concerned bank with verified information regarding the defaulter’s whereabouts and status. Our professional fees for tracing services are charged as per the scope and complexity of the assignment.  In case the bank also requires assistance with recovery of funds, the approach and execution process would differ and will be handled on a case-to-case basis depending upon the nature of the matter.  For tracing-only assignments, we charge an advance of 50% of the mutually agreed professional fees at the time of assignment confirmation.  Kindly let us know your decision and the expected commencement date so that we may allocate and brief our team accordingly. </vt:lpstr>
      <vt:lpstr>Our Applause &amp; Achievements:  Radiant Detective Agency has earned strong appreciation from clients, legal professionals, and corporate partners for its commitment to excellence. Our work has been applauded for:   High success rate in complex cases;   Strict confidentiality and ethical practices;   Timely and accurate reporting;   Use of advanced tools and technology;   Professionalism and transparent communication. </vt:lpstr>
      <vt:lpstr>This consistent trust from clients is our greatest recognition. Every solved case, every satisfied client, and every partnership built on integrity motivates us to continue delivering exemplary investigative services. </vt:lpstr>
      <vt:lpstr>For any queries Contact:    Ajay Rastogi  ☎      +91 9958231007   radiantdetectiveinvestigations@gmail.com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abc</dc:creator>
  <cp:lastModifiedBy>abc</cp:lastModifiedBy>
  <cp:revision>23</cp:revision>
  <dcterms:created xsi:type="dcterms:W3CDTF">2025-12-17T11:08:17Z</dcterms:created>
  <dcterms:modified xsi:type="dcterms:W3CDTF">2026-08-11T09:36:04Z</dcterms:modified>
</cp:coreProperties>
</file>